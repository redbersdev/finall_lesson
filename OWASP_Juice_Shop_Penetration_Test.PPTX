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7" r:id="rId9"/>
    <p:sldId id="263" r:id="rId10"/>
    <p:sldId id="269" r:id="rId11"/>
    <p:sldId id="270" r:id="rId12"/>
    <p:sldId id="271" r:id="rId13"/>
    <p:sldId id="268" r:id="rId14"/>
    <p:sldId id="272" r:id="rId15"/>
    <p:sldId id="273" r:id="rId16"/>
    <p:sldId id="275" r:id="rId17"/>
    <p:sldId id="274" r:id="rId18"/>
    <p:sldId id="276" r:id="rId19"/>
    <p:sldId id="265" r:id="rId20"/>
    <p:sldId id="277" r:id="rId21"/>
    <p:sldId id="278" r:id="rId22"/>
    <p:sldId id="279" r:id="rId23"/>
    <p:sldId id="281" r:id="rId24"/>
    <p:sldId id="280" r:id="rId25"/>
    <p:sldId id="282" r:id="rId26"/>
  </p:sldIdLst>
  <p:sldSz cx="6858000" cy="9906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2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49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1A19A-FBF5-4CA2-8C33-AF655A039772}" type="datetimeFigureOut">
              <a:rPr lang="ru-RU" smtClean="0"/>
              <a:t>15.07.2023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8E552-30EC-4771-A1C0-46DCB787BC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8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D4843-60D1-439D-B28F-459588F4D1B7}" type="datetimeFigureOut">
              <a:rPr lang="ru-RU" smtClean="0"/>
              <a:t>16.07.2023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CB558-6711-49B8-A5CA-5B7DCB5AB6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40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023F4-5542-4893-9728-07C0A7FE5100}" type="datetime1">
              <a:rPr lang="ru-RU" smtClean="0"/>
              <a:t>16.07.2023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72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CA707-98DC-4C96-AADB-7AA5852AE5D5}" type="datetime1">
              <a:rPr lang="ru-RU" smtClean="0"/>
              <a:t>16.07.2023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45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CA84-F24C-4669-A353-1DE48C4F1193}" type="datetime1">
              <a:rPr lang="ru-RU" smtClean="0"/>
              <a:t>16.07.2023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64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A54E-EE77-4DEC-8ED6-898A6488C0E6}" type="datetime1">
              <a:rPr lang="ru-RU" smtClean="0"/>
              <a:t>16.07.2023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12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3184-2BB0-4C33-960B-E676FB16A2DD}" type="datetime1">
              <a:rPr lang="ru-RU" smtClean="0"/>
              <a:t>16.07.2023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92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6A3A-3C97-492E-8E3D-EACE05553387}" type="datetime1">
              <a:rPr lang="ru-RU" smtClean="0"/>
              <a:t>16.07.2023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0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8BD16-01CE-4612-94EE-AB4D5AD02215}" type="datetime1">
              <a:rPr lang="ru-RU" smtClean="0"/>
              <a:t>16.07.2023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5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42EE-08B2-443A-B656-9D21CA4CC571}" type="datetime1">
              <a:rPr lang="ru-RU" smtClean="0"/>
              <a:t>16.07.2023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92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5E557-2568-49F2-A066-AA1ABB3E29C5}" type="datetime1">
              <a:rPr lang="ru-RU" smtClean="0"/>
              <a:t>16.07.2023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11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B82C1-360A-46B7-8767-8DBDE0813682}" type="datetime1">
              <a:rPr lang="ru-RU" smtClean="0"/>
              <a:t>16.07.2023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E561-CB9C-4853-8D54-13D03F65C9A0}" type="datetime1">
              <a:rPr lang="ru-RU" smtClean="0"/>
              <a:t>16.07.2023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36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35F50-4DDA-4548-861D-8E6A1A0B293F}" type="datetime1">
              <a:rPr lang="ru-RU" smtClean="0"/>
              <a:t>16.07.2023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04495-4C06-43EA-AB77-465CD4D5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40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demo.owasp-juice.shop/#/privacy-security/change-passwor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4350" y="362137"/>
            <a:ext cx="5829300" cy="85103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Montserrat Alternates" panose="00000500000000000000" pitchFamily="2" charset="-52"/>
              </a:rPr>
              <a:t>Noda-Group</a:t>
            </a:r>
            <a:endParaRPr lang="ru-RU" dirty="0">
              <a:solidFill>
                <a:schemeClr val="bg1"/>
              </a:solidFill>
              <a:latin typeface="Montserrat Alternates" panose="00000500000000000000" pitchFamily="2" charset="-5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0458" y="5310031"/>
            <a:ext cx="5143500" cy="9715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Montserrat Alternates ExtraBold" panose="00000900000000000000" pitchFamily="2" charset="-52"/>
              </a:rPr>
              <a:t>OWASP Juice </a:t>
            </a:r>
            <a:r>
              <a:rPr lang="en-US" dirty="0" smtClean="0">
                <a:solidFill>
                  <a:schemeClr val="bg1"/>
                </a:solidFill>
                <a:latin typeface="Montserrat Alternates ExtraBold" panose="00000900000000000000" pitchFamily="2" charset="-52"/>
              </a:rPr>
              <a:t>Shop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62137" y="5793338"/>
            <a:ext cx="61201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Montserrat Light" panose="00000400000000000000" pitchFamily="50" charset="-52"/>
              </a:rPr>
              <a:t>Внутренний тест на проникновение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Montserrat Light" panose="00000400000000000000" pitchFamily="50" charset="-52"/>
              </a:rPr>
              <a:t>Отчет о результатах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67472" y="8258536"/>
            <a:ext cx="229052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Montserrat ExtraLight" panose="00000300000000000000" pitchFamily="50" charset="-52"/>
              </a:rPr>
              <a:t>OWASP Juice Shop</a:t>
            </a:r>
          </a:p>
          <a:p>
            <a:pPr algn="r"/>
            <a:r>
              <a:rPr lang="ru-RU" sz="900" dirty="0" smtClean="0">
                <a:solidFill>
                  <a:schemeClr val="bg1"/>
                </a:solidFill>
                <a:latin typeface="Montserrat ExtraLight" panose="00000300000000000000" pitchFamily="50" charset="-52"/>
              </a:rPr>
              <a:t>Июль 16, 2023</a:t>
            </a:r>
          </a:p>
          <a:p>
            <a:pPr algn="r"/>
            <a:r>
              <a:rPr lang="en-US" sz="900" dirty="0" smtClean="0">
                <a:solidFill>
                  <a:schemeClr val="bg1"/>
                </a:solidFill>
                <a:latin typeface="Montserrat ExtraLight" panose="00000300000000000000" pitchFamily="50" charset="-52"/>
              </a:rPr>
              <a:t>Version 1.0</a:t>
            </a:r>
            <a:endParaRPr lang="ru-RU" sz="900" dirty="0">
              <a:solidFill>
                <a:schemeClr val="bg1"/>
              </a:solidFill>
              <a:latin typeface="Montserrat ExtraLight" panose="00000300000000000000" pitchFamily="50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62138" y="9357396"/>
            <a:ext cx="61201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 smtClean="0">
                <a:solidFill>
                  <a:schemeClr val="bg1"/>
                </a:solidFill>
              </a:rPr>
              <a:t>Noda-Group  </a:t>
            </a:r>
            <a:r>
              <a:rPr lang="ru-RU" sz="800" dirty="0" smtClean="0">
                <a:solidFill>
                  <a:schemeClr val="bg1"/>
                </a:solidFill>
              </a:rPr>
              <a:t>Конфиденциально</a:t>
            </a:r>
            <a:endParaRPr lang="ru-RU" sz="800" dirty="0">
              <a:solidFill>
                <a:schemeClr val="bg1"/>
              </a:solidFill>
            </a:endParaRPr>
          </a:p>
          <a:p>
            <a:r>
              <a:rPr lang="ru-RU" sz="800" dirty="0">
                <a:solidFill>
                  <a:schemeClr val="bg1"/>
                </a:solidFill>
              </a:rPr>
              <a:t>Никакая часть этого документа не может быть раскрыта внешним источникам без явного письменного разрешения </a:t>
            </a:r>
            <a:r>
              <a:rPr lang="en-US" sz="800" dirty="0" smtClean="0">
                <a:solidFill>
                  <a:schemeClr val="bg1"/>
                </a:solidFill>
              </a:rPr>
              <a:t>Noda-Group.</a:t>
            </a:r>
            <a:endParaRPr lang="ru-RU" sz="800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207" y="2875611"/>
            <a:ext cx="19526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1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3792" y="1409850"/>
            <a:ext cx="5915025" cy="468527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1438" y="2472234"/>
            <a:ext cx="645512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latin typeface="Montserrat ExtraLight" panose="00000300000000000000" pitchFamily="50" charset="-52"/>
              </a:rPr>
              <a:t>ЗАЯВЛЕНИЕ О КОНФИДЕНЦИАЛЬНОСТИ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..........................................................................................................</a:t>
            </a:r>
            <a:r>
              <a:rPr lang="ru-RU" sz="1100" dirty="0">
                <a:latin typeface="Montserrat ExtraLight" panose="00000300000000000000" pitchFamily="50" charset="-52"/>
              </a:rPr>
              <a:t>3</a:t>
            </a:r>
          </a:p>
          <a:p>
            <a:r>
              <a:rPr lang="ru-RU" sz="1100" dirty="0" smtClean="0">
                <a:latin typeface="Montserrat ExtraLight" panose="00000300000000000000" pitchFamily="50" charset="-52"/>
              </a:rPr>
              <a:t>КОНТАКТЫ ДЛЯ УЧАСТИЯ .................................................... ...............................................................................................</a:t>
            </a:r>
            <a:r>
              <a:rPr lang="ru-RU" sz="1100" dirty="0">
                <a:latin typeface="Montserrat ExtraLight" panose="00000300000000000000" pitchFamily="50" charset="-52"/>
              </a:rPr>
              <a:t>4</a:t>
            </a:r>
          </a:p>
          <a:p>
            <a:r>
              <a:rPr lang="ru-RU" sz="1100" dirty="0" smtClean="0">
                <a:latin typeface="Montserrat ExtraLight" panose="00000300000000000000" pitchFamily="50" charset="-52"/>
              </a:rPr>
              <a:t>ВВОД В ОТЧЕТ ………………………….................................................................................................................................................. </a:t>
            </a:r>
            <a:r>
              <a:rPr lang="ru-RU" sz="1100" dirty="0">
                <a:latin typeface="Montserrat ExtraLight" panose="00000300000000000000" pitchFamily="50" charset="-52"/>
              </a:rPr>
              <a:t>..5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ПОДХОД 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.................................................................................................. ...............</a:t>
            </a:r>
            <a:r>
              <a:rPr lang="ru-RU" sz="1100" dirty="0">
                <a:latin typeface="Montserrat ExtraLight" panose="00000300000000000000" pitchFamily="50" charset="-52"/>
              </a:rPr>
              <a:t> </a:t>
            </a:r>
            <a:r>
              <a:rPr lang="ru-RU" sz="1100" dirty="0" smtClean="0">
                <a:latin typeface="Montserrat ExtraLight" panose="00000300000000000000" pitchFamily="50" charset="-52"/>
              </a:rPr>
              <a:t>..</a:t>
            </a:r>
            <a:r>
              <a:rPr lang="ru-RU" sz="1100" dirty="0">
                <a:latin typeface="Montserrat ExtraLight" panose="00000300000000000000" pitchFamily="50" charset="-52"/>
              </a:rPr>
              <a:t> </a:t>
            </a:r>
            <a:r>
              <a:rPr lang="ru-RU" sz="1100" dirty="0" smtClean="0">
                <a:latin typeface="Montserrat ExtraLight" panose="00000300000000000000" pitchFamily="50" charset="-52"/>
              </a:rPr>
              <a:t>..</a:t>
            </a:r>
            <a:r>
              <a:rPr lang="ru-RU" sz="1100" dirty="0">
                <a:latin typeface="Montserrat ExtraLight" panose="00000300000000000000" pitchFamily="50" charset="-52"/>
              </a:rPr>
              <a:t> </a:t>
            </a:r>
            <a:r>
              <a:rPr lang="ru-RU" sz="1100" dirty="0" smtClean="0">
                <a:latin typeface="Montserrat ExtraLight" panose="00000300000000000000" pitchFamily="50" charset="-52"/>
              </a:rPr>
              <a:t>..</a:t>
            </a:r>
            <a:r>
              <a:rPr lang="ru-RU" sz="1100" dirty="0">
                <a:latin typeface="Montserrat ExtraLight" panose="00000300000000000000" pitchFamily="50" charset="-52"/>
              </a:rPr>
              <a:t>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</a:t>
            </a:r>
            <a:r>
              <a:rPr lang="ru-RU" sz="1100" dirty="0">
                <a:latin typeface="Montserrat ExtraLight" panose="00000300000000000000" pitchFamily="50" charset="-52"/>
              </a:rPr>
              <a:t>5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ОБЪЕМ ................................................. ................................................. 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...............................................</a:t>
            </a:r>
            <a:r>
              <a:rPr lang="ru-RU" sz="1100" dirty="0">
                <a:latin typeface="Montserrat ExtraLight" panose="00000300000000000000" pitchFamily="50" charset="-52"/>
              </a:rPr>
              <a:t>6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ОБЗОР ОЦЕНКИ И РЕКОМЕНДАЦИИ ......................................................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........................ </a:t>
            </a:r>
            <a:r>
              <a:rPr lang="ru-RU" sz="1100" dirty="0">
                <a:latin typeface="Montserrat ExtraLight" panose="00000300000000000000" pitchFamily="50" charset="-52"/>
              </a:rPr>
              <a:t>......................................6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РЕЗЮМЕ ОЦЕНКИ ИСПЫТАНИЙ НА ПРОНИКНОВЕНИЕ </a:t>
            </a:r>
            <a:r>
              <a:rPr lang="ru-RU" sz="1100" dirty="0" smtClean="0">
                <a:latin typeface="Montserrat ExtraLight" panose="00000300000000000000" pitchFamily="50" charset="-52"/>
              </a:rPr>
              <a:t>ВЭБ-ПРИЛОЖЕНИЯ........... </a:t>
            </a:r>
            <a:r>
              <a:rPr lang="ru-RU" sz="1100" dirty="0">
                <a:latin typeface="Montserrat ExtraLight" panose="00000300000000000000" pitchFamily="50" charset="-52"/>
              </a:rPr>
              <a:t>8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ОБЗОР РЕЗУЛЬТАТОВ .................................................................. 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 ...................</a:t>
            </a:r>
            <a:r>
              <a:rPr lang="ru-RU" sz="1100" dirty="0">
                <a:latin typeface="Montserrat ExtraLight" panose="00000300000000000000" pitchFamily="50" charset="-52"/>
              </a:rPr>
              <a:t>8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УСТРАНЕНИЕ ВНУТРЕННЕЙ СЕТИ ............................................................ 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</a:t>
            </a:r>
            <a:r>
              <a:rPr lang="ru-RU" sz="1100" dirty="0">
                <a:latin typeface="Montserrat ExtraLight" panose="00000300000000000000" pitchFamily="50" charset="-52"/>
              </a:rPr>
              <a:t> </a:t>
            </a:r>
            <a:r>
              <a:rPr lang="ru-RU" sz="1100" dirty="0" smtClean="0">
                <a:latin typeface="Montserrat ExtraLight" panose="00000300000000000000" pitchFamily="50" charset="-52"/>
              </a:rPr>
              <a:t>..</a:t>
            </a:r>
            <a:r>
              <a:rPr lang="ru-RU" sz="1100" dirty="0">
                <a:latin typeface="Montserrat ExtraLight" panose="00000300000000000000" pitchFamily="50" charset="-52"/>
              </a:rPr>
              <a:t> ..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 </a:t>
            </a:r>
            <a:r>
              <a:rPr lang="ru-RU" sz="1100" dirty="0">
                <a:latin typeface="Montserrat ExtraLight" panose="00000300000000000000" pitchFamily="50" charset="-52"/>
              </a:rPr>
              <a:t>9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ПОДРОБНОЕ ПРОХОЖДЕНИЕ ................................................................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 </a:t>
            </a:r>
            <a:r>
              <a:rPr lang="ru-RU" sz="1100" dirty="0">
                <a:latin typeface="Montserrat ExtraLight" panose="00000300000000000000" pitchFamily="50" charset="-52"/>
              </a:rPr>
              <a:t>................................................. .............9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РЕЗЮМЕ </a:t>
            </a:r>
            <a:r>
              <a:rPr lang="ru-RU" sz="1100" dirty="0" smtClean="0">
                <a:latin typeface="Montserrat ExtraLight" panose="00000300000000000000" pitchFamily="50" charset="-52"/>
              </a:rPr>
              <a:t>РЕАНИМИРОВАНИ ВЭБ-ПРИЛОЖЕНИЯ................................................. ......................... 17-18</a:t>
            </a:r>
            <a:endParaRPr lang="ru-RU" sz="1100" dirty="0">
              <a:latin typeface="Montserrat ExtraLight" panose="00000300000000000000" pitchFamily="50" charset="-52"/>
            </a:endParaRPr>
          </a:p>
          <a:p>
            <a:r>
              <a:rPr lang="ru-RU" sz="1100" dirty="0">
                <a:latin typeface="Montserrat ExtraLight" panose="00000300000000000000" pitchFamily="50" charset="-52"/>
              </a:rPr>
              <a:t>КОРОТКИЙ </a:t>
            </a:r>
            <a:r>
              <a:rPr lang="ru-RU" sz="1100" dirty="0" smtClean="0">
                <a:latin typeface="Montserrat ExtraLight" panose="00000300000000000000" pitchFamily="50" charset="-52"/>
              </a:rPr>
              <a:t>ПУТЬ .................................................. </a:t>
            </a:r>
            <a:r>
              <a:rPr lang="ru-RU" sz="1100" dirty="0">
                <a:latin typeface="Montserrat ExtraLight" panose="00000300000000000000" pitchFamily="50" charset="-52"/>
              </a:rPr>
              <a:t>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...................................... </a:t>
            </a:r>
            <a:r>
              <a:rPr lang="ru-RU" sz="1100" dirty="0">
                <a:latin typeface="Montserrat ExtraLight" panose="00000300000000000000" pitchFamily="50" charset="-52"/>
              </a:rPr>
              <a:t>............................. 17</a:t>
            </a:r>
          </a:p>
          <a:p>
            <a:r>
              <a:rPr lang="ru-RU" sz="1100" dirty="0">
                <a:latin typeface="Montserrat ExtraLight" panose="00000300000000000000" pitchFamily="50" charset="-52"/>
              </a:rPr>
              <a:t>СРЕДНЯЯ </a:t>
            </a:r>
            <a:r>
              <a:rPr lang="ru-RU" sz="1100" dirty="0" smtClean="0">
                <a:latin typeface="Montserrat ExtraLight" panose="00000300000000000000" pitchFamily="50" charset="-52"/>
              </a:rPr>
              <a:t>ПУТЬ............................................................. ................................................................................... </a:t>
            </a:r>
            <a:r>
              <a:rPr lang="ru-RU" sz="1100" dirty="0">
                <a:latin typeface="Montserrat ExtraLight" panose="00000300000000000000" pitchFamily="50" charset="-52"/>
              </a:rPr>
              <a:t>............................. 17</a:t>
            </a:r>
          </a:p>
          <a:p>
            <a:r>
              <a:rPr lang="ru-RU" sz="1100" dirty="0" smtClean="0">
                <a:latin typeface="Montserrat ExtraLight" panose="00000300000000000000" pitchFamily="50" charset="-52"/>
              </a:rPr>
              <a:t>ДОЛГОСРОЧНЫЙ ПУТЬ  ................................................ ...................................................................................................... 18</a:t>
            </a:r>
            <a:endParaRPr lang="ru-RU" sz="1100" dirty="0">
              <a:latin typeface="Montserrat ExtraLight" panose="00000300000000000000" pitchFamily="50" charset="-52"/>
            </a:endParaRPr>
          </a:p>
          <a:p>
            <a:r>
              <a:rPr lang="ru-RU" sz="1100" dirty="0">
                <a:latin typeface="Montserrat ExtraLight" panose="00000300000000000000" pitchFamily="50" charset="-52"/>
              </a:rPr>
              <a:t>ТЕХНИЧЕСКИЕ ДЕТАЛИ ................................................................ ................................................. </a:t>
            </a:r>
            <a:r>
              <a:rPr lang="ru-RU" sz="1100" dirty="0" smtClean="0">
                <a:latin typeface="Montserrat ExtraLight" panose="00000300000000000000" pitchFamily="50" charset="-52"/>
              </a:rPr>
              <a:t>.......................................18</a:t>
            </a:r>
            <a:endParaRPr lang="ru-RU" sz="1100" dirty="0">
              <a:latin typeface="Montserrat ExtraLight" panose="000003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2901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60020"/>
            <a:ext cx="5974080" cy="2282087"/>
          </a:xfrm>
        </p:spPr>
        <p:txBody>
          <a:bodyPr/>
          <a:lstStyle/>
          <a:p>
            <a:r>
              <a:rPr lang="ru-RU" dirty="0">
                <a:latin typeface="Montserrat ExtraLight" panose="00000300000000000000" pitchFamily="50" charset="-52"/>
              </a:rPr>
              <a:t>Заявление о конфиденциальности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615628"/>
          </a:xfrm>
        </p:spPr>
        <p:txBody>
          <a:bodyPr>
            <a:normAutofit/>
          </a:bodyPr>
          <a:lstStyle/>
          <a:p>
            <a:r>
              <a:rPr lang="ru-RU" sz="1200" dirty="0" smtClean="0">
                <a:latin typeface="Montserrat ExtraLight" panose="00000300000000000000" pitchFamily="50" charset="-52"/>
              </a:rPr>
              <a:t>Настоящий </a:t>
            </a:r>
            <a:r>
              <a:rPr lang="ru-RU" sz="1200" dirty="0">
                <a:latin typeface="Montserrat ExtraLight" panose="00000300000000000000" pitchFamily="50" charset="-52"/>
              </a:rPr>
              <a:t>отчет о проведении аудита уязвимостей веб-приложения создан в строгом соответствии с принципами конфиденциальности и информационной безопасности. Документ содержит информацию, относящуюся к безопасности и защите информационных систем организации.</a:t>
            </a:r>
          </a:p>
          <a:p>
            <a:r>
              <a:rPr lang="ru-RU" sz="1200" dirty="0">
                <a:latin typeface="Montserrat ExtraLight" panose="00000300000000000000" pitchFamily="50" charset="-52"/>
              </a:rPr>
              <a:t>Данный документ и содержащаяся в нем информация предназначены исключительно для внутреннего использования компетентными сотрудниками организации, участвующими в процессах обеспечения безопасности информационных систем.</a:t>
            </a:r>
          </a:p>
          <a:p>
            <a:r>
              <a:rPr lang="ru-RU" sz="1200" dirty="0">
                <a:latin typeface="Montserrat ExtraLight" panose="00000300000000000000" pitchFamily="50" charset="-52"/>
              </a:rPr>
              <a:t>Распространение, копирование, передача или любое иное использование информации из данного отчета, без явного письменного согласия ответственного лица организации, строго запрещены. Несоблюдение этого требования может повлечь за собой дисциплинарные, административные, гражданско-правовые или уголовные последствия, в зависимости от тяжести нарушения и причиненного ущерба.</a:t>
            </a:r>
          </a:p>
          <a:p>
            <a:r>
              <a:rPr lang="ru-RU" sz="1200" dirty="0">
                <a:latin typeface="Montserrat ExtraLight" panose="00000300000000000000" pitchFamily="50" charset="-52"/>
              </a:rPr>
              <a:t>Все лица, имеющие доступ к данному отчету, обязаны обеспечивать конфиденциальность информации, содержащейся в нем, и не использовать ее в иных целях, кроме как для обеспечения безопасности веб-приложения. Любое отклонение от этого требования требует получения явного письменного разрешения со стороны уполномоченного лица организации.</a:t>
            </a:r>
          </a:p>
          <a:p>
            <a:r>
              <a:rPr lang="ru-RU" sz="1200" dirty="0">
                <a:latin typeface="Montserrat ExtraLight" panose="00000300000000000000" pitchFamily="50" charset="-52"/>
              </a:rPr>
              <a:t>Подчеркивается строгая ответственность каждого, кто имеет доступ к этому отчету, за обеспечение конфиденциальности и сохранность содержащейся в нем информации.</a:t>
            </a:r>
          </a:p>
          <a:p>
            <a:endParaRPr lang="ru-RU" sz="1200" dirty="0">
              <a:latin typeface="Montserrat ExtraLight" panose="00000300000000000000" pitchFamily="50" charset="-52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43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9573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Montserrat ExtraLight" panose="00000300000000000000" pitchFamily="50" charset="-52"/>
              </a:rPr>
              <a:t>Контакты для участия</a:t>
            </a:r>
            <a:r>
              <a:rPr lang="en-US" b="1" dirty="0">
                <a:latin typeface="Montserrat ExtraLight" panose="00000300000000000000" pitchFamily="50" charset="-52"/>
              </a:rPr>
              <a:t/>
            </a:r>
            <a:br>
              <a:rPr lang="en-US" b="1" dirty="0">
                <a:latin typeface="Montserrat ExtraLight" panose="00000300000000000000" pitchFamily="50" charset="-52"/>
              </a:rPr>
            </a:br>
            <a:r>
              <a:rPr lang="en-US" dirty="0">
                <a:latin typeface="Montserrat ExtraLight" panose="00000300000000000000" pitchFamily="50" charset="-52"/>
              </a:rPr>
              <a:t/>
            </a:r>
            <a:br>
              <a:rPr lang="en-US" dirty="0">
                <a:latin typeface="Montserrat ExtraLight" panose="00000300000000000000" pitchFamily="50" charset="-52"/>
              </a:rPr>
            </a:br>
            <a:endParaRPr lang="ru-RU" dirty="0">
              <a:latin typeface="Montserrat ExtraLight" panose="00000300000000000000" pitchFamily="50" charset="-52"/>
            </a:endParaRP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919080"/>
              </p:ext>
            </p:extLst>
          </p:nvPr>
        </p:nvGraphicFramePr>
        <p:xfrm>
          <a:off x="471488" y="2636838"/>
          <a:ext cx="591502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65962648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85409720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2694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000" dirty="0">
                        <a:latin typeface="Montserrat ExtraLight" panose="00000300000000000000" pitchFamily="50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i="0" dirty="0" err="1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Inlanefreight</a:t>
                      </a:r>
                      <a:r>
                        <a:rPr lang="en-US" sz="1000" b="1" i="0" dirty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Contacts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000" dirty="0">
                        <a:latin typeface="Montserrat ExtraLight" panose="00000300000000000000" pitchFamily="50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75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Primary Contact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Title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Primary Contact Email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78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Pavlov Dmitry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OWASP SEO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pavlov@owasp.com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030446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47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200" dirty="0" smtClean="0">
                <a:latin typeface="Montserrat Light" panose="00000400000000000000" pitchFamily="50" charset="-52"/>
              </a:rPr>
              <a:t>Ввод в отчет</a:t>
            </a:r>
            <a:r>
              <a:rPr lang="en-US" sz="1200" dirty="0" smtClean="0">
                <a:latin typeface="Montserrat Light" panose="00000400000000000000" pitchFamily="50" charset="-52"/>
              </a:rPr>
              <a:t/>
            </a:r>
            <a:br>
              <a:rPr lang="en-US" sz="1200" dirty="0" smtClean="0">
                <a:latin typeface="Montserrat Light" panose="00000400000000000000" pitchFamily="50" charset="-52"/>
              </a:rPr>
            </a:br>
            <a:r>
              <a:rPr lang="en-US" sz="1200" dirty="0">
                <a:latin typeface="Montserrat Light" panose="00000400000000000000" pitchFamily="50" charset="-52"/>
              </a:rPr>
              <a:t>OWASP Juice Shop</a:t>
            </a:r>
            <a:r>
              <a:rPr lang="ru-RU" sz="1200" dirty="0" smtClean="0">
                <a:latin typeface="Montserrat Light" panose="00000400000000000000" pitchFamily="50" charset="-52"/>
              </a:rPr>
              <a:t>. («</a:t>
            </a:r>
            <a:r>
              <a:rPr lang="en-US" sz="1200" dirty="0" smtClean="0">
                <a:latin typeface="Montserrat Light" panose="00000400000000000000" pitchFamily="50" charset="-52"/>
              </a:rPr>
              <a:t>juice-shop</a:t>
            </a:r>
            <a:r>
              <a:rPr lang="ru-RU" sz="1200" dirty="0" smtClean="0">
                <a:latin typeface="Montserrat Light" panose="00000400000000000000" pitchFamily="50" charset="-52"/>
              </a:rPr>
              <a:t>t</a:t>
            </a:r>
            <a:r>
              <a:rPr lang="ru-RU" sz="1200" dirty="0">
                <a:latin typeface="Montserrat Light" panose="00000400000000000000" pitchFamily="50" charset="-52"/>
              </a:rPr>
              <a:t>» в настоящем документе) заключила контракт с </a:t>
            </a:r>
            <a:r>
              <a:rPr lang="en-US" sz="1200" dirty="0" err="1" smtClean="0">
                <a:latin typeface="Montserrat Light" panose="00000400000000000000" pitchFamily="50" charset="-52"/>
              </a:rPr>
              <a:t>NodaGrup</a:t>
            </a:r>
            <a:r>
              <a:rPr lang="en-US" sz="1200" dirty="0" smtClean="0">
                <a:latin typeface="Montserrat Light" panose="00000400000000000000" pitchFamily="50" charset="-52"/>
              </a:rPr>
              <a:t> </a:t>
            </a:r>
            <a:r>
              <a:rPr lang="ru-RU" sz="1200" dirty="0" smtClean="0">
                <a:latin typeface="Montserrat Light" panose="00000400000000000000" pitchFamily="50" charset="-52"/>
              </a:rPr>
              <a:t>на </a:t>
            </a:r>
            <a:r>
              <a:rPr lang="ru-RU" sz="1200" dirty="0">
                <a:latin typeface="Montserrat Light" panose="00000400000000000000" pitchFamily="50" charset="-52"/>
              </a:rPr>
              <a:t>проведение теста на проникновение в сеть</a:t>
            </a:r>
            <a:br>
              <a:rPr lang="ru-RU" sz="1200" dirty="0">
                <a:latin typeface="Montserrat Light" panose="00000400000000000000" pitchFamily="50" charset="-52"/>
              </a:rPr>
            </a:br>
            <a:r>
              <a:rPr lang="ru-RU" sz="1200" dirty="0">
                <a:latin typeface="Montserrat Light" panose="00000400000000000000" pitchFamily="50" charset="-52"/>
              </a:rPr>
              <a:t>Внутренняя сеть </a:t>
            </a:r>
            <a:r>
              <a:rPr lang="en-US" sz="1200" dirty="0" smtClean="0">
                <a:latin typeface="Montserrat Light" panose="00000400000000000000" pitchFamily="50" charset="-52"/>
              </a:rPr>
              <a:t> </a:t>
            </a:r>
            <a:r>
              <a:rPr lang="en-US" sz="1200" dirty="0">
                <a:latin typeface="Montserrat Light" panose="00000400000000000000" pitchFamily="50" charset="-52"/>
              </a:rPr>
              <a:t>juice-shop</a:t>
            </a:r>
            <a:r>
              <a:rPr lang="ru-RU" sz="1200" dirty="0">
                <a:latin typeface="Montserrat Light" panose="00000400000000000000" pitchFamily="50" charset="-52"/>
              </a:rPr>
              <a:t>t </a:t>
            </a:r>
            <a:r>
              <a:rPr lang="ru-RU" sz="1200" dirty="0" smtClean="0">
                <a:latin typeface="Montserrat Light" panose="00000400000000000000" pitchFamily="50" charset="-52"/>
              </a:rPr>
              <a:t> </a:t>
            </a:r>
            <a:r>
              <a:rPr lang="ru-RU" sz="1200" dirty="0">
                <a:latin typeface="Montserrat Light" panose="00000400000000000000" pitchFamily="50" charset="-52"/>
              </a:rPr>
              <a:t>для выявления слабых мест в безопасности, определения влияния на </a:t>
            </a:r>
            <a:r>
              <a:rPr lang="en-US" sz="1200" dirty="0">
                <a:latin typeface="Montserrat Light" panose="00000400000000000000" pitchFamily="50" charset="-52"/>
              </a:rPr>
              <a:t>juice-shop</a:t>
            </a:r>
            <a:r>
              <a:rPr lang="ru-RU" sz="1200" dirty="0">
                <a:latin typeface="Montserrat Light" panose="00000400000000000000" pitchFamily="50" charset="-52"/>
              </a:rPr>
              <a:t>t</a:t>
            </a:r>
            <a:r>
              <a:rPr lang="ru-RU" sz="1200" dirty="0" smtClean="0">
                <a:latin typeface="Montserrat Light" panose="00000400000000000000" pitchFamily="50" charset="-52"/>
              </a:rPr>
              <a:t>,</a:t>
            </a:r>
            <a:r>
              <a:rPr lang="ru-RU" sz="1200" dirty="0">
                <a:latin typeface="Montserrat Light" panose="00000400000000000000" pitchFamily="50" charset="-52"/>
              </a:rPr>
              <a:t/>
            </a:r>
            <a:br>
              <a:rPr lang="ru-RU" sz="1200" dirty="0">
                <a:latin typeface="Montserrat Light" panose="00000400000000000000" pitchFamily="50" charset="-52"/>
              </a:rPr>
            </a:br>
            <a:r>
              <a:rPr lang="ru-RU" sz="1200" dirty="0">
                <a:latin typeface="Montserrat Light" panose="00000400000000000000" pitchFamily="50" charset="-52"/>
              </a:rPr>
              <a:t>четко и воспроизводимо задокументируйте все результаты и предоставьте рекомендации по исправлению положения. </a:t>
            </a:r>
            <a:r>
              <a:rPr lang="en-US" sz="1200" dirty="0">
                <a:latin typeface="Montserrat Light" panose="00000400000000000000" pitchFamily="50" charset="-52"/>
              </a:rPr>
              <a:t>https://demo.owasp-juice.shop/#/</a:t>
            </a:r>
            <a:endParaRPr lang="ru-RU" sz="1200" dirty="0">
              <a:latin typeface="Montserrat Light" panose="00000400000000000000" pitchFamily="50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Montserrat Light" panose="00000400000000000000" pitchFamily="50" charset="-52"/>
              </a:rPr>
              <a:t>Подход</a:t>
            </a:r>
          </a:p>
          <a:p>
            <a:pPr marL="0" indent="0">
              <a:buNone/>
            </a:pPr>
            <a:r>
              <a:rPr lang="en-US" sz="1200" dirty="0" smtClean="0">
                <a:latin typeface="Montserrat Light" panose="00000400000000000000" pitchFamily="50" charset="-52"/>
              </a:rPr>
              <a:t>Noda Group</a:t>
            </a:r>
            <a:r>
              <a:rPr lang="ru-RU" sz="1200" dirty="0" smtClean="0">
                <a:latin typeface="Montserrat Light" panose="00000400000000000000" pitchFamily="50" charset="-52"/>
              </a:rPr>
              <a:t> </a:t>
            </a:r>
            <a:r>
              <a:rPr lang="ru-RU" sz="1200" dirty="0">
                <a:latin typeface="Montserrat Light" panose="00000400000000000000" pitchFamily="50" charset="-52"/>
              </a:rPr>
              <a:t>провела тестирование по методу «черного ящика» </a:t>
            </a:r>
            <a:endParaRPr lang="ru-RU" sz="1200" dirty="0" smtClean="0">
              <a:latin typeface="Montserrat Light" panose="00000400000000000000" pitchFamily="50" charset="-52"/>
            </a:endParaRPr>
          </a:p>
          <a:p>
            <a:pPr marL="0" indent="0">
              <a:buNone/>
            </a:pPr>
            <a:r>
              <a:rPr lang="ru-RU" sz="1200" dirty="0" smtClean="0">
                <a:latin typeface="Montserrat Light" panose="00000400000000000000" pitchFamily="50" charset="-52"/>
              </a:rPr>
              <a:t>с </a:t>
            </a:r>
            <a:r>
              <a:rPr lang="ru-RU" sz="1200" dirty="0" smtClean="0">
                <a:latin typeface="Montserrat Light" panose="00000400000000000000" pitchFamily="50" charset="-52"/>
              </a:rPr>
              <a:t>10 июля 2023 </a:t>
            </a:r>
            <a:r>
              <a:rPr lang="ru-RU" sz="1200" dirty="0">
                <a:latin typeface="Montserrat Light" panose="00000400000000000000" pitchFamily="50" charset="-52"/>
              </a:rPr>
              <a:t>г. по </a:t>
            </a:r>
            <a:r>
              <a:rPr lang="ru-RU" sz="1200" dirty="0" smtClean="0">
                <a:latin typeface="Montserrat Light" panose="00000400000000000000" pitchFamily="50" charset="-52"/>
              </a:rPr>
              <a:t>15 июля 2023 </a:t>
            </a:r>
            <a:r>
              <a:rPr lang="ru-RU" sz="1200" dirty="0">
                <a:latin typeface="Montserrat Light" panose="00000400000000000000" pitchFamily="50" charset="-52"/>
              </a:rPr>
              <a:t>г. </a:t>
            </a:r>
            <a:br>
              <a:rPr lang="ru-RU" sz="1200" dirty="0">
                <a:latin typeface="Montserrat Light" panose="00000400000000000000" pitchFamily="50" charset="-52"/>
              </a:rPr>
            </a:br>
            <a:r>
              <a:rPr lang="ru-RU" sz="1200" dirty="0" smtClean="0">
                <a:latin typeface="Montserrat Light" panose="00000400000000000000" pitchFamily="50" charset="-52"/>
              </a:rPr>
              <a:t>При </a:t>
            </a:r>
            <a:r>
              <a:rPr lang="ru-RU" sz="1200" dirty="0">
                <a:latin typeface="Montserrat Light" panose="00000400000000000000" pitchFamily="50" charset="-52"/>
              </a:rPr>
              <a:t>проведении данного исследования был использован метод "Черного ящика" в тестировании веб-приложения </a:t>
            </a:r>
            <a:r>
              <a:rPr lang="ru-RU" sz="1200" dirty="0" smtClean="0">
                <a:latin typeface="Montserrat Light" panose="00000400000000000000" pitchFamily="50" charset="-52"/>
              </a:rPr>
              <a:t>OWASP </a:t>
            </a:r>
            <a:r>
              <a:rPr lang="ru-RU" sz="1200" dirty="0" err="1">
                <a:latin typeface="Montserrat Light" panose="00000400000000000000" pitchFamily="50" charset="-52"/>
              </a:rPr>
              <a:t>Juice</a:t>
            </a:r>
            <a:r>
              <a:rPr lang="ru-RU" sz="1200" dirty="0">
                <a:latin typeface="Montserrat Light" panose="00000400000000000000" pitchFamily="50" charset="-52"/>
              </a:rPr>
              <a:t> </a:t>
            </a:r>
            <a:r>
              <a:rPr lang="ru-RU" sz="1200" dirty="0" err="1" smtClean="0">
                <a:latin typeface="Montserrat Light" panose="00000400000000000000" pitchFamily="50" charset="-52"/>
              </a:rPr>
              <a:t>Shop</a:t>
            </a:r>
            <a:r>
              <a:rPr lang="ru-RU" sz="1200" dirty="0" smtClean="0">
                <a:latin typeface="Montserrat Light" panose="00000400000000000000" pitchFamily="50" charset="-52"/>
              </a:rPr>
              <a:t>. </a:t>
            </a:r>
            <a:r>
              <a:rPr lang="ru-RU" sz="1200" dirty="0">
                <a:latin typeface="Montserrat Light" panose="00000400000000000000" pitchFamily="50" charset="-52"/>
              </a:rPr>
              <a:t>Данный метод был выбран </a:t>
            </a:r>
            <a:r>
              <a:rPr lang="ru-RU" sz="1200" dirty="0" smtClean="0">
                <a:latin typeface="Montserrat Light" panose="00000400000000000000" pitchFamily="50" charset="-52"/>
              </a:rPr>
              <a:t>компанией </a:t>
            </a:r>
            <a:r>
              <a:rPr lang="ru-RU" sz="1200" dirty="0">
                <a:latin typeface="Montserrat Light" panose="00000400000000000000" pitchFamily="50" charset="-52"/>
              </a:rPr>
              <a:t>OWASP </a:t>
            </a:r>
            <a:r>
              <a:rPr lang="ru-RU" sz="1200" dirty="0" err="1">
                <a:latin typeface="Montserrat Light" panose="00000400000000000000" pitchFamily="50" charset="-52"/>
              </a:rPr>
              <a:t>Juice</a:t>
            </a:r>
            <a:r>
              <a:rPr lang="ru-RU" sz="1200" dirty="0">
                <a:latin typeface="Montserrat Light" panose="00000400000000000000" pitchFamily="50" charset="-52"/>
              </a:rPr>
              <a:t> </a:t>
            </a:r>
            <a:r>
              <a:rPr lang="ru-RU" sz="1200" dirty="0" err="1">
                <a:latin typeface="Montserrat Light" panose="00000400000000000000" pitchFamily="50" charset="-52"/>
              </a:rPr>
              <a:t>Shop</a:t>
            </a:r>
            <a:r>
              <a:rPr lang="ru-RU" sz="1200" dirty="0" smtClean="0">
                <a:latin typeface="Montserrat Light" panose="00000400000000000000" pitchFamily="50" charset="-52"/>
              </a:rPr>
              <a:t> , не требующего </a:t>
            </a:r>
            <a:r>
              <a:rPr lang="ru-RU" sz="1200" dirty="0">
                <a:latin typeface="Montserrat Light" panose="00000400000000000000" pitchFamily="50" charset="-52"/>
              </a:rPr>
              <a:t>предварительного знания о внутренней структуре или функциональности тестируемого веб-приложения</a:t>
            </a:r>
            <a:r>
              <a:rPr lang="ru-RU" sz="1200" dirty="0" smtClean="0">
                <a:latin typeface="Montserrat Light" panose="00000400000000000000" pitchFamily="50" charset="-52"/>
              </a:rPr>
              <a:t>.</a:t>
            </a:r>
          </a:p>
          <a:p>
            <a:pPr marL="0" indent="0">
              <a:buNone/>
            </a:pPr>
            <a:r>
              <a:rPr lang="ru-RU" sz="1200" dirty="0" smtClean="0">
                <a:latin typeface="Montserrat Light" panose="00000400000000000000" pitchFamily="50" charset="-52"/>
              </a:rPr>
              <a:t> </a:t>
            </a:r>
            <a:r>
              <a:rPr lang="ru-RU" sz="1200" dirty="0">
                <a:latin typeface="Montserrat Light" panose="00000400000000000000" pitchFamily="50" charset="-52"/>
              </a:rPr>
              <a:t>Целью данного тестирования являлось исследование и выявление возможных уязвимостей безопасности внутри приложения, которые могут быть эксплуатированы злоумышленниками.</a:t>
            </a:r>
          </a:p>
          <a:p>
            <a:pPr marL="0" indent="0">
              <a:buNone/>
            </a:pPr>
            <a:r>
              <a:rPr lang="ru-RU" sz="1200" dirty="0">
                <a:latin typeface="Montserrat Light" panose="00000400000000000000" pitchFamily="50" charset="-52"/>
              </a:rPr>
              <a:t>На протяжении всего процесса тестирования основное внимание уделялось исследованию онлайн версии веб-приложения </a:t>
            </a:r>
            <a:r>
              <a:rPr lang="ru-RU" sz="1200" dirty="0" smtClean="0">
                <a:latin typeface="Montserrat Light" panose="00000400000000000000" pitchFamily="50" charset="-52"/>
              </a:rPr>
              <a:t>OWASP </a:t>
            </a:r>
            <a:r>
              <a:rPr lang="ru-RU" sz="1200" dirty="0" err="1">
                <a:latin typeface="Montserrat Light" panose="00000400000000000000" pitchFamily="50" charset="-52"/>
              </a:rPr>
              <a:t>Juice</a:t>
            </a:r>
            <a:r>
              <a:rPr lang="ru-RU" sz="1200" dirty="0">
                <a:latin typeface="Montserrat Light" panose="00000400000000000000" pitchFamily="50" charset="-52"/>
              </a:rPr>
              <a:t> </a:t>
            </a:r>
            <a:r>
              <a:rPr lang="ru-RU" sz="1200" dirty="0" err="1" smtClean="0">
                <a:latin typeface="Montserrat Light" panose="00000400000000000000" pitchFamily="50" charset="-52"/>
              </a:rPr>
              <a:t>Shop</a:t>
            </a:r>
            <a:r>
              <a:rPr lang="ru-RU" sz="1200" dirty="0" smtClean="0">
                <a:latin typeface="Montserrat Light" panose="00000400000000000000" pitchFamily="50" charset="-52"/>
              </a:rPr>
              <a:t> </a:t>
            </a:r>
            <a:r>
              <a:rPr lang="ru-RU" sz="1200" dirty="0">
                <a:latin typeface="Montserrat Light" panose="00000400000000000000" pitchFamily="50" charset="-52"/>
              </a:rPr>
              <a:t>и анализу инфраструктуры его локальной сети. Такой комплексный подход к тестированию позволил нам оценить глобальные и локальные аспекты безопасности системы, включая процессы аутентификации, авторизации, а также возможности перехвата и манипулирования данными</a:t>
            </a:r>
            <a:r>
              <a:rPr lang="ru-RU" sz="1200" dirty="0" smtClean="0">
                <a:latin typeface="Montserrat Light" panose="00000400000000000000" pitchFamily="50" charset="-52"/>
              </a:rPr>
              <a:t>. Особое внимание было уделено следующим уязвимостям : </a:t>
            </a:r>
            <a:r>
              <a:rPr lang="en-US" sz="1200" dirty="0" smtClean="0">
                <a:latin typeface="Montserrat Light" panose="00000400000000000000" pitchFamily="50" charset="-52"/>
              </a:rPr>
              <a:t>XSS</a:t>
            </a:r>
            <a:r>
              <a:rPr lang="ru-RU" sz="1200" dirty="0" smtClean="0">
                <a:latin typeface="Montserrat Light" panose="00000400000000000000" pitchFamily="50" charset="-52"/>
              </a:rPr>
              <a:t>,</a:t>
            </a:r>
            <a:r>
              <a:rPr lang="en-US" sz="1200" dirty="0" smtClean="0">
                <a:latin typeface="Montserrat Light" panose="00000400000000000000" pitchFamily="50" charset="-52"/>
              </a:rPr>
              <a:t> </a:t>
            </a:r>
            <a:r>
              <a:rPr lang="en-US" sz="1200" dirty="0">
                <a:latin typeface="Montserrat Light" panose="00000400000000000000" pitchFamily="50" charset="-52"/>
              </a:rPr>
              <a:t>SQL </a:t>
            </a:r>
            <a:r>
              <a:rPr lang="en-US" sz="1200" dirty="0" smtClean="0">
                <a:latin typeface="Montserrat Light" panose="00000400000000000000" pitchFamily="50" charset="-52"/>
              </a:rPr>
              <a:t>injection</a:t>
            </a:r>
            <a:r>
              <a:rPr lang="ru-RU" sz="1200" dirty="0" smtClean="0">
                <a:latin typeface="Montserrat Light" panose="00000400000000000000" pitchFamily="50" charset="-52"/>
              </a:rPr>
              <a:t>,</a:t>
            </a:r>
            <a:r>
              <a:rPr lang="en-US" sz="1200" dirty="0" smtClean="0">
                <a:latin typeface="Montserrat Light" panose="00000400000000000000" pitchFamily="50" charset="-52"/>
              </a:rPr>
              <a:t> </a:t>
            </a:r>
            <a:r>
              <a:rPr lang="en-US" sz="1200" dirty="0">
                <a:latin typeface="Montserrat Light" panose="00000400000000000000" pitchFamily="50" charset="-52"/>
              </a:rPr>
              <a:t>Broken authorization/broken </a:t>
            </a:r>
            <a:r>
              <a:rPr lang="en-US" sz="1200" dirty="0" smtClean="0">
                <a:latin typeface="Montserrat Light" panose="00000400000000000000" pitchFamily="50" charset="-52"/>
              </a:rPr>
              <a:t>authentication</a:t>
            </a:r>
            <a:r>
              <a:rPr lang="ru-RU" sz="1200" dirty="0" smtClean="0">
                <a:latin typeface="Montserrat Light" panose="00000400000000000000" pitchFamily="50" charset="-52"/>
              </a:rPr>
              <a:t>,</a:t>
            </a:r>
            <a:r>
              <a:rPr lang="en-US" sz="1200" dirty="0" smtClean="0">
                <a:latin typeface="Montserrat Light" panose="00000400000000000000" pitchFamily="50" charset="-52"/>
              </a:rPr>
              <a:t> </a:t>
            </a:r>
            <a:r>
              <a:rPr lang="en-US" sz="1200" dirty="0">
                <a:latin typeface="Montserrat Light" panose="00000400000000000000" pitchFamily="50" charset="-52"/>
              </a:rPr>
              <a:t>Informational </a:t>
            </a:r>
            <a:r>
              <a:rPr lang="en-US" sz="1200" dirty="0" smtClean="0">
                <a:latin typeface="Montserrat Light" panose="00000400000000000000" pitchFamily="50" charset="-52"/>
              </a:rPr>
              <a:t>disclosure.</a:t>
            </a:r>
            <a:endParaRPr lang="ru-RU" sz="1200" dirty="0">
              <a:latin typeface="Montserrat Light" panose="00000400000000000000" pitchFamily="50" charset="-52"/>
            </a:endParaRPr>
          </a:p>
          <a:p>
            <a:pPr marL="0" indent="0">
              <a:buNone/>
            </a:pPr>
            <a:r>
              <a:rPr lang="ru-RU" sz="1200" dirty="0">
                <a:latin typeface="Montserrat Light" panose="00000400000000000000" pitchFamily="50" charset="-52"/>
              </a:rPr>
              <a:t>Процесс тестирования был направлен на обнаружение угроз безопасности, которые могут иметь место как в процессе взаимодействия пользователя с приложением, так и на уровне сервера. Каждая выявленная уязвимость была подробно изучена и документирована для дальнейшего анализа и разработки мер по ее устранению</a:t>
            </a:r>
            <a:r>
              <a:rPr lang="ru-RU" sz="1200" dirty="0" smtClean="0">
                <a:latin typeface="Montserrat Light" panose="00000400000000000000" pitchFamily="50" charset="-52"/>
              </a:rPr>
              <a:t>.</a:t>
            </a:r>
            <a:r>
              <a:rPr lang="en-US" sz="1200" dirty="0" smtClean="0">
                <a:latin typeface="Montserrat Light" panose="00000400000000000000" pitchFamily="50" charset="-52"/>
              </a:rPr>
              <a:t> </a:t>
            </a:r>
            <a:r>
              <a:rPr lang="ru-RU" sz="1200" dirty="0" smtClean="0">
                <a:latin typeface="Montserrat Light" panose="00000400000000000000" pitchFamily="50" charset="-52"/>
              </a:rPr>
              <a:t>Также в этом документе </a:t>
            </a:r>
            <a:r>
              <a:rPr lang="ru-RU" sz="1200" dirty="0" err="1" smtClean="0">
                <a:latin typeface="Montserrat Light" panose="00000400000000000000" pitchFamily="50" charset="-52"/>
              </a:rPr>
              <a:t>присудствет</a:t>
            </a:r>
            <a:r>
              <a:rPr lang="ru-RU" sz="1200" dirty="0" smtClean="0">
                <a:latin typeface="Montserrat Light" panose="00000400000000000000" pitchFamily="50" charset="-52"/>
              </a:rPr>
              <a:t> решение </a:t>
            </a:r>
            <a:r>
              <a:rPr lang="ru-RU" sz="1200" dirty="0" err="1" smtClean="0">
                <a:latin typeface="Montserrat Light" panose="00000400000000000000" pitchFamily="50" charset="-52"/>
              </a:rPr>
              <a:t>найденых</a:t>
            </a:r>
            <a:r>
              <a:rPr lang="ru-RU" sz="1200" dirty="0" smtClean="0">
                <a:latin typeface="Montserrat Light" panose="00000400000000000000" pitchFamily="50" charset="-52"/>
              </a:rPr>
              <a:t> уязвимостей в формате </a:t>
            </a:r>
            <a:r>
              <a:rPr lang="en-US" sz="1200" dirty="0" smtClean="0">
                <a:latin typeface="Montserrat Light" panose="00000400000000000000" pitchFamily="50" charset="-52"/>
              </a:rPr>
              <a:t>short-term</a:t>
            </a:r>
            <a:r>
              <a:rPr lang="ru-RU" sz="1200" dirty="0" smtClean="0">
                <a:latin typeface="Montserrat Light" panose="00000400000000000000" pitchFamily="50" charset="-52"/>
              </a:rPr>
              <a:t> и</a:t>
            </a:r>
            <a:r>
              <a:rPr lang="en-US" sz="1200" dirty="0" smtClean="0">
                <a:latin typeface="Montserrat Light" panose="00000400000000000000" pitchFamily="50" charset="-52"/>
              </a:rPr>
              <a:t> long-term</a:t>
            </a:r>
            <a:r>
              <a:rPr lang="ru-RU" sz="1200" dirty="0" smtClean="0">
                <a:latin typeface="Montserrat Light" panose="00000400000000000000" pitchFamily="50" charset="-52"/>
              </a:rPr>
              <a:t>.</a:t>
            </a:r>
            <a:endParaRPr lang="ru-RU" sz="1200" dirty="0">
              <a:latin typeface="Montserrat Light" panose="00000400000000000000" pitchFamily="50" charset="-52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44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826984"/>
            <a:ext cx="6400800" cy="4053649"/>
          </a:xfrm>
        </p:spPr>
        <p:txBody>
          <a:bodyPr>
            <a:noAutofit/>
          </a:bodyPr>
          <a:lstStyle/>
          <a:p>
            <a:r>
              <a:rPr lang="ru-RU" sz="1200" dirty="0">
                <a:latin typeface="Montserrat ExtraLight" panose="00000300000000000000" pitchFamily="50" charset="-52"/>
              </a:rPr>
              <a:t>Обзор оценки и рекомендации к устранению Уязвимостей</a:t>
            </a:r>
            <a:r>
              <a:rPr lang="ru-RU" sz="1200" dirty="0" smtClean="0">
                <a:latin typeface="Montserrat ExtraLight" panose="00000300000000000000" pitchFamily="50" charset="-52"/>
              </a:rPr>
              <a:t/>
            </a:r>
            <a:br>
              <a:rPr lang="ru-RU" sz="1200" dirty="0" smtClean="0">
                <a:latin typeface="Montserrat ExtraLight" panose="00000300000000000000" pitchFamily="50" charset="-52"/>
              </a:rPr>
            </a:br>
            <a:r>
              <a:rPr lang="ru-RU" sz="1200" dirty="0" smtClean="0">
                <a:latin typeface="Montserrat ExtraLight" panose="00000300000000000000" pitchFamily="50" charset="-52"/>
              </a:rPr>
              <a:t/>
            </a:r>
            <a:br>
              <a:rPr lang="ru-RU" sz="1200" dirty="0" smtClean="0">
                <a:latin typeface="Montserrat ExtraLight" panose="00000300000000000000" pitchFamily="50" charset="-52"/>
              </a:rPr>
            </a:br>
            <a:r>
              <a:rPr lang="ru-RU" sz="1200" dirty="0" smtClean="0">
                <a:latin typeface="Montserrat ExtraLight" panose="00000300000000000000" pitchFamily="50" charset="-52"/>
              </a:rPr>
              <a:t>В </a:t>
            </a:r>
            <a:r>
              <a:rPr lang="ru-RU" sz="1200" dirty="0">
                <a:latin typeface="Montserrat ExtraLight" panose="00000300000000000000" pitchFamily="50" charset="-52"/>
              </a:rPr>
              <a:t>ходе проведения тестирования нашей командой "</a:t>
            </a:r>
            <a:r>
              <a:rPr lang="ru-RU" sz="1200" dirty="0" err="1">
                <a:latin typeface="Montserrat ExtraLight" panose="00000300000000000000" pitchFamily="50" charset="-52"/>
              </a:rPr>
              <a:t>Noda-Group</a:t>
            </a:r>
            <a:r>
              <a:rPr lang="ru-RU" sz="1200" dirty="0">
                <a:latin typeface="Montserrat ExtraLight" panose="00000300000000000000" pitchFamily="50" charset="-52"/>
              </a:rPr>
              <a:t>", были выявлены ряд уязвимостей в веб-приложении "OWASP </a:t>
            </a:r>
            <a:r>
              <a:rPr lang="ru-RU" sz="1200" dirty="0" err="1">
                <a:latin typeface="Montserrat ExtraLight" panose="00000300000000000000" pitchFamily="50" charset="-52"/>
              </a:rPr>
              <a:t>Juice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Shop</a:t>
            </a:r>
            <a:r>
              <a:rPr lang="ru-RU" sz="1200" dirty="0">
                <a:latin typeface="Montserrat ExtraLight" panose="00000300000000000000" pitchFamily="50" charset="-52"/>
              </a:rPr>
              <a:t>", которые включают в себя проблемы с XSS (</a:t>
            </a:r>
            <a:r>
              <a:rPr lang="ru-RU" sz="1200" dirty="0" err="1">
                <a:latin typeface="Montserrat ExtraLight" panose="00000300000000000000" pitchFamily="50" charset="-52"/>
              </a:rPr>
              <a:t>Cross-site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Scripting</a:t>
            </a:r>
            <a:r>
              <a:rPr lang="ru-RU" sz="1200" dirty="0">
                <a:latin typeface="Montserrat ExtraLight" panose="00000300000000000000" pitchFamily="50" charset="-52"/>
              </a:rPr>
              <a:t>), SQL </a:t>
            </a:r>
            <a:r>
              <a:rPr lang="ru-RU" sz="1200" dirty="0" err="1">
                <a:latin typeface="Montserrat ExtraLight" panose="00000300000000000000" pitchFamily="50" charset="-52"/>
              </a:rPr>
              <a:t>Injection</a:t>
            </a:r>
            <a:r>
              <a:rPr lang="ru-RU" sz="1200" dirty="0">
                <a:latin typeface="Montserrat ExtraLight" panose="00000300000000000000" pitchFamily="50" charset="-52"/>
              </a:rPr>
              <a:t>, </a:t>
            </a:r>
            <a:r>
              <a:rPr lang="ru-RU" sz="1200" dirty="0" err="1">
                <a:latin typeface="Montserrat ExtraLight" panose="00000300000000000000" pitchFamily="50" charset="-52"/>
              </a:rPr>
              <a:t>Broken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Authentication</a:t>
            </a:r>
            <a:r>
              <a:rPr lang="ru-RU" sz="1200" dirty="0">
                <a:latin typeface="Montserrat ExtraLight" panose="00000300000000000000" pitchFamily="50" charset="-52"/>
              </a:rPr>
              <a:t>/</a:t>
            </a:r>
            <a:r>
              <a:rPr lang="ru-RU" sz="1200" dirty="0" err="1">
                <a:latin typeface="Montserrat ExtraLight" panose="00000300000000000000" pitchFamily="50" charset="-52"/>
              </a:rPr>
              <a:t>Broken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Authorization</a:t>
            </a:r>
            <a:r>
              <a:rPr lang="ru-RU" sz="1200" dirty="0">
                <a:latin typeface="Montserrat ExtraLight" panose="00000300000000000000" pitchFamily="50" charset="-52"/>
              </a:rPr>
              <a:t>, </a:t>
            </a:r>
            <a:r>
              <a:rPr lang="ru-RU" sz="1200" dirty="0" err="1">
                <a:latin typeface="Montserrat ExtraLight" panose="00000300000000000000" pitchFamily="50" charset="-52"/>
              </a:rPr>
              <a:t>Data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Base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Scheme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Injection</a:t>
            </a:r>
            <a:r>
              <a:rPr lang="ru-RU" sz="1200" dirty="0">
                <a:latin typeface="Montserrat ExtraLight" panose="00000300000000000000" pitchFamily="50" charset="-52"/>
              </a:rPr>
              <a:t>, HTML </a:t>
            </a:r>
            <a:r>
              <a:rPr lang="ru-RU" sz="1200" dirty="0" err="1">
                <a:latin typeface="Montserrat ExtraLight" panose="00000300000000000000" pitchFamily="50" charset="-52"/>
              </a:rPr>
              <a:t>Injection</a:t>
            </a:r>
            <a:r>
              <a:rPr lang="ru-RU" sz="1200" dirty="0">
                <a:latin typeface="Montserrat ExtraLight" panose="00000300000000000000" pitchFamily="50" charset="-52"/>
              </a:rPr>
              <a:t>, обнаружение чувствительных данных, и информационное раскрытие.</a:t>
            </a:r>
            <a:br>
              <a:rPr lang="ru-RU" sz="1200" dirty="0">
                <a:latin typeface="Montserrat ExtraLight" panose="00000300000000000000" pitchFamily="50" charset="-52"/>
              </a:rPr>
            </a:br>
            <a:r>
              <a:rPr lang="ru-RU" sz="1200" dirty="0">
                <a:latin typeface="Montserrat ExtraLight" panose="00000300000000000000" pitchFamily="50" charset="-52"/>
              </a:rPr>
              <a:t>XSS и HTML </a:t>
            </a:r>
            <a:r>
              <a:rPr lang="ru-RU" sz="1200" dirty="0" err="1">
                <a:latin typeface="Montserrat ExtraLight" panose="00000300000000000000" pitchFamily="50" charset="-52"/>
              </a:rPr>
              <a:t>Injection</a:t>
            </a:r>
            <a:r>
              <a:rPr lang="ru-RU" sz="1200" dirty="0">
                <a:latin typeface="Montserrat ExtraLight" panose="00000300000000000000" pitchFamily="50" charset="-52"/>
              </a:rPr>
              <a:t> требуют внедрения строгих мер </a:t>
            </a:r>
            <a:r>
              <a:rPr lang="ru-RU" sz="1200" dirty="0" err="1">
                <a:latin typeface="Montserrat ExtraLight" panose="00000300000000000000" pitchFamily="50" charset="-52"/>
              </a:rPr>
              <a:t>валидации</a:t>
            </a:r>
            <a:r>
              <a:rPr lang="ru-RU" sz="1200" dirty="0">
                <a:latin typeface="Montserrat ExtraLight" panose="00000300000000000000" pitchFamily="50" charset="-52"/>
              </a:rPr>
              <a:t> и </a:t>
            </a:r>
            <a:r>
              <a:rPr lang="ru-RU" sz="1200" dirty="0" err="1">
                <a:latin typeface="Montserrat ExtraLight" panose="00000300000000000000" pitchFamily="50" charset="-52"/>
              </a:rPr>
              <a:t>санитизации</a:t>
            </a:r>
            <a:r>
              <a:rPr lang="ru-RU" sz="1200" dirty="0">
                <a:latin typeface="Montserrat ExtraLight" panose="00000300000000000000" pitchFamily="50" charset="-52"/>
              </a:rPr>
              <a:t> вводимых данных, а также применения механизмов контроля доступа к данным (</a:t>
            </a:r>
            <a:r>
              <a:rPr lang="ru-RU" sz="1200" dirty="0" err="1">
                <a:latin typeface="Montserrat ExtraLight" panose="00000300000000000000" pitchFamily="50" charset="-52"/>
              </a:rPr>
              <a:t>Content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Security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Policy</a:t>
            </a:r>
            <a:r>
              <a:rPr lang="ru-RU" sz="1200" dirty="0">
                <a:latin typeface="Montserrat ExtraLight" panose="00000300000000000000" pitchFamily="50" charset="-52"/>
              </a:rPr>
              <a:t>). SQL </a:t>
            </a:r>
            <a:r>
              <a:rPr lang="ru-RU" sz="1200" dirty="0" err="1">
                <a:latin typeface="Montserrat ExtraLight" panose="00000300000000000000" pitchFamily="50" charset="-52"/>
              </a:rPr>
              <a:t>Injection</a:t>
            </a:r>
            <a:r>
              <a:rPr lang="ru-RU" sz="1200" dirty="0">
                <a:latin typeface="Montserrat ExtraLight" panose="00000300000000000000" pitchFamily="50" charset="-52"/>
              </a:rPr>
              <a:t> и </a:t>
            </a:r>
            <a:r>
              <a:rPr lang="ru-RU" sz="1200" dirty="0" err="1">
                <a:latin typeface="Montserrat ExtraLight" panose="00000300000000000000" pitchFamily="50" charset="-52"/>
              </a:rPr>
              <a:t>Data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Base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Scheme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Injection</a:t>
            </a:r>
            <a:r>
              <a:rPr lang="ru-RU" sz="1200" dirty="0">
                <a:latin typeface="Montserrat ExtraLight" panose="00000300000000000000" pitchFamily="50" charset="-52"/>
              </a:rPr>
              <a:t> требуют также применения </a:t>
            </a:r>
            <a:r>
              <a:rPr lang="ru-RU" sz="1200" dirty="0" err="1">
                <a:latin typeface="Montserrat ExtraLight" panose="00000300000000000000" pitchFamily="50" charset="-52"/>
              </a:rPr>
              <a:t>санитизации</a:t>
            </a:r>
            <a:r>
              <a:rPr lang="ru-RU" sz="1200" dirty="0">
                <a:latin typeface="Montserrat ExtraLight" panose="00000300000000000000" pitchFamily="50" charset="-52"/>
              </a:rPr>
              <a:t> входных данных и использования параметризованных запросов или ORM (</a:t>
            </a:r>
            <a:r>
              <a:rPr lang="ru-RU" sz="1200" dirty="0" err="1">
                <a:latin typeface="Montserrat ExtraLight" panose="00000300000000000000" pitchFamily="50" charset="-52"/>
              </a:rPr>
              <a:t>Object-Relational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Mapping</a:t>
            </a:r>
            <a:r>
              <a:rPr lang="ru-RU" sz="1200" dirty="0">
                <a:latin typeface="Montserrat ExtraLight" panose="00000300000000000000" pitchFamily="50" charset="-52"/>
              </a:rPr>
              <a:t>) систем.</a:t>
            </a:r>
            <a:br>
              <a:rPr lang="ru-RU" sz="1200" dirty="0">
                <a:latin typeface="Montserrat ExtraLight" panose="00000300000000000000" pitchFamily="50" charset="-52"/>
              </a:rPr>
            </a:br>
            <a:r>
              <a:rPr lang="ru-RU" sz="1200" dirty="0" err="1">
                <a:latin typeface="Montserrat ExtraLight" panose="00000300000000000000" pitchFamily="50" charset="-52"/>
              </a:rPr>
              <a:t>Broken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Authentication</a:t>
            </a:r>
            <a:r>
              <a:rPr lang="ru-RU" sz="1200" dirty="0">
                <a:latin typeface="Montserrat ExtraLight" panose="00000300000000000000" pitchFamily="50" charset="-52"/>
              </a:rPr>
              <a:t>/</a:t>
            </a:r>
            <a:r>
              <a:rPr lang="ru-RU" sz="1200" dirty="0" err="1">
                <a:latin typeface="Montserrat ExtraLight" panose="00000300000000000000" pitchFamily="50" charset="-52"/>
              </a:rPr>
              <a:t>Broken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err="1">
                <a:latin typeface="Montserrat ExtraLight" panose="00000300000000000000" pitchFamily="50" charset="-52"/>
              </a:rPr>
              <a:t>Authorization</a:t>
            </a:r>
            <a:r>
              <a:rPr lang="ru-RU" sz="1200" dirty="0">
                <a:latin typeface="Montserrat ExtraLight" panose="00000300000000000000" pitchFamily="50" charset="-52"/>
              </a:rPr>
              <a:t> и информационное раскрытие указывают на необходимость пересмотра политик аутентификации и авторизации, улучшения управления сессиями и обеспечения конфиденциальности данных пользователей. Чувствительные данные должны быть должным образом защищены и шифрованы во время хранения и передачи, чтобы предотвратить несанкционированный доступ.</a:t>
            </a:r>
          </a:p>
        </p:txBody>
      </p:sp>
      <p:graphicFrame>
        <p:nvGraphicFramePr>
          <p:cNvPr id="8" name="Объект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515031"/>
              </p:ext>
            </p:extLst>
          </p:nvPr>
        </p:nvGraphicFramePr>
        <p:xfrm>
          <a:off x="228600" y="1611737"/>
          <a:ext cx="6400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848">
                  <a:extLst>
                    <a:ext uri="{9D8B030D-6E8A-4147-A177-3AD203B41FA5}">
                      <a16:colId xmlns:a16="http://schemas.microsoft.com/office/drawing/2014/main" val="1953289716"/>
                    </a:ext>
                  </a:extLst>
                </a:gridCol>
                <a:gridCol w="3197952">
                  <a:extLst>
                    <a:ext uri="{9D8B030D-6E8A-4147-A177-3AD203B41FA5}">
                      <a16:colId xmlns:a16="http://schemas.microsoft.com/office/drawing/2014/main" val="3438103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latin typeface="Montserrat Light" panose="00000400000000000000" pitchFamily="50" charset="-52"/>
                        </a:rPr>
                        <a:t>Host/URL/IP Address </a:t>
                      </a:r>
                      <a:endParaRPr lang="en-US" sz="1200" dirty="0">
                        <a:effectLst/>
                        <a:latin typeface="Montserrat Light" panose="000004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Montserrat Light" panose="00000400000000000000" pitchFamily="50" charset="-52"/>
                        </a:rPr>
                        <a:t>Description</a:t>
                      </a:r>
                      <a:endParaRPr lang="en-US" sz="1200">
                        <a:effectLst/>
                        <a:latin typeface="Montserrat Light" panose="000004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Montserrat Light" panose="00000400000000000000" pitchFamily="50" charset="-52"/>
                        </a:rPr>
                        <a:t>https://demo.owasp-juice.shop/#/</a:t>
                      </a:r>
                      <a:endParaRPr lang="ru-RU" sz="1200" dirty="0">
                        <a:latin typeface="Montserrat Light" panose="00000400000000000000" pitchFamily="50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Montserrat Light" panose="00000400000000000000" pitchFamily="50" charset="-52"/>
                        </a:rPr>
                        <a:t>OWASP</a:t>
                      </a:r>
                      <a:r>
                        <a:rPr lang="en-US" sz="1200" baseline="0" dirty="0" smtClean="0">
                          <a:latin typeface="Montserrat Light" panose="00000400000000000000" pitchFamily="50" charset="-52"/>
                        </a:rPr>
                        <a:t> online web-</a:t>
                      </a:r>
                      <a:r>
                        <a:rPr lang="en-US" sz="1200" baseline="0" dirty="0" err="1" smtClean="0">
                          <a:latin typeface="Montserrat Light" panose="00000400000000000000" pitchFamily="50" charset="-52"/>
                        </a:rPr>
                        <a:t>aplication</a:t>
                      </a:r>
                      <a:endParaRPr lang="ru-RU" sz="1200" dirty="0">
                        <a:latin typeface="Montserrat Light" panose="00000400000000000000" pitchFamily="50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93196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28600" y="491839"/>
            <a:ext cx="6316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latin typeface="Montserrat ExtraLight" panose="00000300000000000000" pitchFamily="50" charset="-52"/>
              </a:rPr>
              <a:t>Объем</a:t>
            </a:r>
          </a:p>
          <a:p>
            <a:r>
              <a:rPr lang="ru-RU" sz="1200" b="1" dirty="0">
                <a:latin typeface="Montserrat ExtraLight" panose="00000300000000000000" pitchFamily="50" charset="-52"/>
              </a:rPr>
              <a:t> Области этой оценки были : внутренняя сеть,  и онлайн </a:t>
            </a:r>
            <a:r>
              <a:rPr lang="ru-RU" sz="1200" b="1" dirty="0" smtClean="0">
                <a:latin typeface="Montserrat ExtraLight" panose="00000300000000000000" pitchFamily="50" charset="-52"/>
              </a:rPr>
              <a:t>версия </a:t>
            </a:r>
            <a:r>
              <a:rPr lang="ru-RU" sz="1200" b="1" dirty="0" err="1">
                <a:latin typeface="Montserrat ExtraLight" panose="00000300000000000000" pitchFamily="50" charset="-52"/>
              </a:rPr>
              <a:t>вэб</a:t>
            </a:r>
            <a:r>
              <a:rPr lang="ru-RU" sz="1200" b="1" dirty="0">
                <a:latin typeface="Montserrat ExtraLight" panose="00000300000000000000" pitchFamily="50" charset="-52"/>
              </a:rPr>
              <a:t>-приложения . OWASP </a:t>
            </a:r>
            <a:r>
              <a:rPr lang="ru-RU" sz="1200" b="1" dirty="0" err="1">
                <a:latin typeface="Montserrat ExtraLight" panose="00000300000000000000" pitchFamily="50" charset="-52"/>
              </a:rPr>
              <a:t>Juice</a:t>
            </a:r>
            <a:r>
              <a:rPr lang="ru-RU" sz="1200" b="1" dirty="0">
                <a:latin typeface="Montserrat ExtraLight" panose="00000300000000000000" pitchFamily="50" charset="-52"/>
              </a:rPr>
              <a:t> </a:t>
            </a:r>
            <a:r>
              <a:rPr lang="ru-RU" sz="1200" b="1" dirty="0" err="1">
                <a:latin typeface="Montserrat ExtraLight" panose="00000300000000000000" pitchFamily="50" charset="-52"/>
              </a:rPr>
              <a:t>Shop</a:t>
            </a:r>
            <a:endParaRPr lang="ru-RU" sz="1200" b="1" dirty="0">
              <a:latin typeface="Montserrat ExtraLight" panose="00000300000000000000" pitchFamily="50" charset="-52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33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074" y="1649144"/>
            <a:ext cx="5915025" cy="1053970"/>
          </a:xfrm>
        </p:spPr>
        <p:txBody>
          <a:bodyPr>
            <a:normAutofit fontScale="90000"/>
          </a:bodyPr>
          <a:lstStyle/>
          <a:p>
            <a:r>
              <a:rPr lang="en-US" sz="1200" dirty="0" err="1" smtClean="0">
                <a:latin typeface="Montserrat ExtraLight" panose="00000300000000000000" pitchFamily="50" charset="-52"/>
              </a:rPr>
              <a:t>NodaGroup</a:t>
            </a:r>
            <a:r>
              <a:rPr lang="ru-RU" sz="1200" dirty="0" smtClean="0">
                <a:latin typeface="Montserrat ExtraLight" panose="00000300000000000000" pitchFamily="50" charset="-52"/>
              </a:rPr>
              <a:t>  подошла к вопросу тестирования максимально реалистично, а именно были проведены тесты в формате «</a:t>
            </a:r>
            <a:r>
              <a:rPr lang="ru-RU" sz="1200" dirty="0" err="1">
                <a:latin typeface="Montserrat ExtraLight" panose="00000300000000000000" pitchFamily="50" charset="-52"/>
              </a:rPr>
              <a:t>Б</a:t>
            </a:r>
            <a:r>
              <a:rPr lang="ru-RU" sz="1200" dirty="0" err="1" smtClean="0">
                <a:latin typeface="Montserrat ExtraLight" panose="00000300000000000000" pitchFamily="50" charset="-52"/>
              </a:rPr>
              <a:t>лэк</a:t>
            </a:r>
            <a:r>
              <a:rPr lang="ru-RU" sz="1200" dirty="0" smtClean="0">
                <a:latin typeface="Montserrat ExtraLight" panose="00000300000000000000" pitchFamily="50" charset="-52"/>
              </a:rPr>
              <a:t> Бокс» без выданных </a:t>
            </a:r>
            <a:r>
              <a:rPr lang="ru-RU" sz="1200" dirty="0" err="1" smtClean="0">
                <a:latin typeface="Montserrat ExtraLight" panose="00000300000000000000" pitchFamily="50" charset="-52"/>
              </a:rPr>
              <a:t>айпи</a:t>
            </a:r>
            <a:r>
              <a:rPr lang="ru-RU" sz="1200" dirty="0">
                <a:latin typeface="Montserrat ExtraLight" panose="00000300000000000000" pitchFamily="50" charset="-52"/>
              </a:rPr>
              <a:t> </a:t>
            </a:r>
            <a:r>
              <a:rPr lang="ru-RU" sz="1200" dirty="0" smtClean="0">
                <a:latin typeface="Montserrat ExtraLight" panose="00000300000000000000" pitchFamily="50" charset="-52"/>
              </a:rPr>
              <a:t>адресов , специальных </a:t>
            </a:r>
            <a:r>
              <a:rPr lang="ru-RU" sz="1200" dirty="0" err="1" smtClean="0">
                <a:latin typeface="Montserrat ExtraLight" panose="00000300000000000000" pitchFamily="50" charset="-52"/>
              </a:rPr>
              <a:t>аккаутов</a:t>
            </a:r>
            <a:r>
              <a:rPr lang="ru-RU" sz="1200" dirty="0" smtClean="0">
                <a:latin typeface="Montserrat ExtraLight" panose="00000300000000000000" pitchFamily="50" charset="-52"/>
              </a:rPr>
              <a:t> или доступов. Тесты были проведены таким образом и с таким уклоном в тестировании, что бы проверить какой уровень вреда теоретически может нанести злоумышленник, в такой же ситуации. </a:t>
            </a:r>
            <a:r>
              <a:rPr lang="ru-RU" sz="1200" dirty="0" err="1" smtClean="0">
                <a:latin typeface="Montserrat ExtraLight" panose="00000300000000000000" pitchFamily="50" charset="-52"/>
              </a:rPr>
              <a:t>Единственн</a:t>
            </a:r>
            <a:r>
              <a:rPr lang="uk-UA" sz="1200" dirty="0" err="1" smtClean="0">
                <a:latin typeface="Montserrat ExtraLight" panose="00000300000000000000" pitchFamily="50" charset="-52"/>
              </a:rPr>
              <a:t>ое</a:t>
            </a:r>
            <a:r>
              <a:rPr lang="ru-RU" sz="1200" dirty="0" smtClean="0">
                <a:latin typeface="Montserrat ExtraLight" panose="00000300000000000000" pitchFamily="50" charset="-52"/>
              </a:rPr>
              <a:t> что было предоставлено это доменное имя цели тестирования </a:t>
            </a:r>
            <a:endParaRPr lang="ru-RU" sz="1200" dirty="0">
              <a:latin typeface="Montserrat ExtraLight" panose="00000300000000000000" pitchFamily="50" charset="-52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783473"/>
              </p:ext>
            </p:extLst>
          </p:nvPr>
        </p:nvGraphicFramePr>
        <p:xfrm>
          <a:off x="235390" y="4528086"/>
          <a:ext cx="6017584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24">
                  <a:extLst>
                    <a:ext uri="{9D8B030D-6E8A-4147-A177-3AD203B41FA5}">
                      <a16:colId xmlns:a16="http://schemas.microsoft.com/office/drawing/2014/main" val="2569160934"/>
                    </a:ext>
                  </a:extLst>
                </a:gridCol>
                <a:gridCol w="773393">
                  <a:extLst>
                    <a:ext uri="{9D8B030D-6E8A-4147-A177-3AD203B41FA5}">
                      <a16:colId xmlns:a16="http://schemas.microsoft.com/office/drawing/2014/main" val="2504545914"/>
                    </a:ext>
                  </a:extLst>
                </a:gridCol>
                <a:gridCol w="1343043">
                  <a:extLst>
                    <a:ext uri="{9D8B030D-6E8A-4147-A177-3AD203B41FA5}">
                      <a16:colId xmlns:a16="http://schemas.microsoft.com/office/drawing/2014/main" val="4022664117"/>
                    </a:ext>
                  </a:extLst>
                </a:gridCol>
                <a:gridCol w="3376424">
                  <a:extLst>
                    <a:ext uri="{9D8B030D-6E8A-4147-A177-3AD203B41FA5}">
                      <a16:colId xmlns:a16="http://schemas.microsoft.com/office/drawing/2014/main" val="1082547424"/>
                    </a:ext>
                  </a:extLst>
                </a:gridCol>
              </a:tblGrid>
              <a:tr h="375937"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Finding #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VAT</a:t>
                      </a:r>
                    </a:p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priority</a:t>
                      </a:r>
                      <a:r>
                        <a:rPr lang="ru-RU" sz="1000" dirty="0" smtClean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VRT category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Finding Name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800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1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Server-Side Injection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SQL injection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( доступний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ввод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SQL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вредосносного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кода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)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096727"/>
                  </a:ext>
                </a:extLst>
              </a:tr>
              <a:tr h="464598">
                <a:tc>
                  <a:txBody>
                    <a:bodyPr/>
                    <a:lstStyle/>
                    <a:p>
                      <a:r>
                        <a:rPr lang="uk-UA" sz="1000" dirty="0" smtClean="0">
                          <a:effectLst/>
                          <a:latin typeface="Montserrat ExtraLight" panose="00000300000000000000" pitchFamily="50" charset="-52"/>
                        </a:rPr>
                        <a:t>2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Broken Authentication</a:t>
                      </a:r>
                      <a:endParaRPr lang="en-US" sz="1000" dirty="0" smtClean="0">
                        <a:effectLst/>
                        <a:latin typeface="Montserrat ExtraLight" panose="00000300000000000000" pitchFamily="50" charset="-52"/>
                      </a:endParaRPr>
                    </a:p>
                    <a:p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Using Default 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Cred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entials/pass</a:t>
                      </a:r>
                      <a:r>
                        <a:rPr lang="uk-UA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( </a:t>
                      </a:r>
                      <a:r>
                        <a:rPr lang="uk-UA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использование</a:t>
                      </a:r>
                      <a:r>
                        <a:rPr lang="uk-UA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дефолтного</a:t>
                      </a:r>
                      <a:r>
                        <a:rPr lang="uk-UA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пароля для </a:t>
                      </a:r>
                      <a:r>
                        <a:rPr lang="uk-UA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администратора</a:t>
                      </a:r>
                      <a:r>
                        <a:rPr lang="uk-UA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)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133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3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Insecure OS/Firmware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manipulation No </a:t>
                      </a:r>
                      <a:r>
                        <a:rPr lang="en-US" sz="1000" dirty="0" err="1" smtClean="0">
                          <a:effectLst/>
                          <a:latin typeface="Montserrat ExtraLight" panose="00000300000000000000" pitchFamily="50" charset="-52"/>
                        </a:rPr>
                        <a:t>sql</a:t>
                      </a:r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 injection/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Command 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Inj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ection</a:t>
                      </a:r>
                      <a:endParaRPr lang="ru-RU" sz="1000" b="0" i="0" kern="1200" dirty="0" smtClean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  <a:p>
                      <a:r>
                        <a:rPr lang="ru-RU" sz="1000" dirty="0" smtClean="0">
                          <a:effectLst/>
                          <a:latin typeface="Montserrat ExtraLight" panose="00000300000000000000" pitchFamily="50" charset="-52"/>
                        </a:rPr>
                        <a:t>(получили всю базу данных пользователей и Администраторов)</a:t>
                      </a:r>
                      <a:r>
                        <a:rPr lang="ru-RU" sz="1000" baseline="0" dirty="0" smtClean="0"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360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4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Server Security Misconfiguration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users credentials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( Получили доступ к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логам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всех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пользователей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за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период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)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422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5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Sensitive Data Exposure</a:t>
                      </a:r>
                    </a:p>
                    <a:p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000" dirty="0" smtClean="0">
                          <a:effectLst/>
                          <a:latin typeface="Montserrat ExtraLight" panose="00000300000000000000" pitchFamily="50" charset="-52"/>
                        </a:rPr>
                        <a:t>Получили доступ к файлу</a:t>
                      </a:r>
                      <a:r>
                        <a:rPr lang="uk-UA" sz="1000" baseline="0" dirty="0" smtClean="0">
                          <a:effectLst/>
                          <a:latin typeface="Montserrat ExtraLight" panose="00000300000000000000" pitchFamily="50" charset="-52"/>
                        </a:rPr>
                        <a:t> с </a:t>
                      </a:r>
                      <a:r>
                        <a:rPr lang="uk-UA" sz="1000" baseline="0" dirty="0" err="1" smtClean="0">
                          <a:effectLst/>
                          <a:latin typeface="Montserrat ExtraLight" panose="00000300000000000000" pitchFamily="50" charset="-52"/>
                        </a:rPr>
                        <a:t>бєкапами</a:t>
                      </a:r>
                      <a:r>
                        <a:rPr lang="uk-UA" sz="1000" baseline="0" dirty="0" smtClean="0">
                          <a:effectLst/>
                          <a:latin typeface="Montserrat ExtraLight" panose="00000300000000000000" pitchFamily="50" charset="-52"/>
                        </a:rPr>
                        <a:t> сервера  (</a:t>
                      </a:r>
                      <a:r>
                        <a:rPr lang="en-US" sz="1000" baseline="0" dirty="0" err="1" smtClean="0">
                          <a:effectLst/>
                          <a:latin typeface="Montserrat ExtraLight" panose="00000300000000000000" pitchFamily="50" charset="-52"/>
                        </a:rPr>
                        <a:t>package.json.bak</a:t>
                      </a:r>
                      <a:r>
                        <a:rPr lang="en-US" sz="1000" baseline="0" dirty="0" smtClean="0">
                          <a:effectLst/>
                          <a:latin typeface="Montserrat ExtraLight" panose="00000300000000000000" pitchFamily="50" charset="-52"/>
                        </a:rPr>
                        <a:t>)</a:t>
                      </a:r>
                      <a:r>
                        <a:rPr lang="uk-UA" sz="1000" baseline="0" dirty="0" smtClean="0"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84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6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effectLst/>
                          <a:latin typeface="Montserrat ExtraLight" panose="00000300000000000000" pitchFamily="50" charset="-52"/>
                        </a:rPr>
                        <a:t>p1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dirty="0">
                          <a:effectLst/>
                          <a:latin typeface="Montserrat ExtraLight" panose="00000300000000000000" pitchFamily="50" charset="-52"/>
                        </a:rPr>
                        <a:t>Sensitive Data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Disclosure of Secrets</a:t>
                      </a:r>
                      <a:r>
                        <a:rPr lang="uk-UA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(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Путем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сканирования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дерикторий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были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найдены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К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онфиденциальные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документы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) </a:t>
                      </a:r>
                      <a:endParaRPr lang="en-US" sz="1000" dirty="0" smtClean="0">
                        <a:effectLst/>
                        <a:latin typeface="Montserrat ExtraLight" panose="00000300000000000000" pitchFamily="50" charset="-52"/>
                      </a:endParaRPr>
                    </a:p>
                    <a:p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23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000" dirty="0" smtClean="0">
                          <a:effectLst/>
                          <a:latin typeface="Montserrat ExtraLight" panose="00000300000000000000" pitchFamily="50" charset="-52"/>
                        </a:rPr>
                        <a:t>7</a:t>
                      </a:r>
                      <a:endParaRPr lang="ru-RU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 smtClean="0">
                          <a:effectLst/>
                          <a:latin typeface="Montserrat ExtraLight" panose="00000300000000000000" pitchFamily="50" charset="-52"/>
                        </a:rPr>
                        <a:t>р1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Broken Authentication and Session Management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Unauthorized Privilege Assignment</a:t>
                      </a:r>
                      <a:r>
                        <a:rPr lang="uk-UA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(</a:t>
                      </a:r>
                      <a:r>
                        <a:rPr lang="uk-UA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был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а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создана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учетноя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запись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и 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наделена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правми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0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администратора</a:t>
                      </a:r>
                      <a:r>
                        <a:rPr lang="uk-UA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)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332764"/>
                  </a:ext>
                </a:extLst>
              </a:tr>
            </a:tbl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125230" y="1102537"/>
            <a:ext cx="5915025" cy="3518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 smtClean="0">
                <a:latin typeface="Montserrat ExtraLight" panose="00000300000000000000" pitchFamily="50" charset="-52"/>
              </a:rPr>
              <a:t>Ввод и оценивание теста на проникновение в ВЭБ-Приложение </a:t>
            </a:r>
            <a:endParaRPr lang="ru-RU" sz="1400" b="1" dirty="0">
              <a:latin typeface="Montserrat ExtraLight" panose="00000300000000000000" pitchFamily="50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5074" y="2911409"/>
            <a:ext cx="60011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Montserrat ExtraLight" panose="00000300000000000000" pitchFamily="50" charset="-52"/>
              </a:rPr>
              <a:t>Резюмированные результатов проделанной работы</a:t>
            </a:r>
            <a:r>
              <a:rPr lang="ru-RU" sz="1050" dirty="0" smtClean="0">
                <a:latin typeface="Montserrat ExtraLight" panose="00000300000000000000" pitchFamily="50" charset="-52"/>
              </a:rPr>
              <a:t>. </a:t>
            </a:r>
            <a:endParaRPr lang="ru-RU" sz="1050" dirty="0">
              <a:latin typeface="Montserrat ExtraLight" panose="00000300000000000000" pitchFamily="50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25230" y="3273593"/>
            <a:ext cx="64460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В ходе проделанных тестов было выявлено 8 уязвимостей . Уровень уязвимостей от «Критического» до «Высокого»  соответственно в критическом состоянии находится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-Приложение и под большой угрозой вся персональная информация пользователей и администраторов.  </a:t>
            </a:r>
            <a:endParaRPr lang="ru-RU" sz="10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53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488" y="518351"/>
            <a:ext cx="5915025" cy="1554892"/>
          </a:xfrm>
        </p:spPr>
        <p:txBody>
          <a:bodyPr>
            <a:normAutofit fontScale="90000"/>
          </a:bodyPr>
          <a:lstStyle/>
          <a:p>
            <a:r>
              <a:rPr lang="ru-RU" sz="1300" b="1" dirty="0">
                <a:latin typeface="Montserrat ExtraLight" panose="00000300000000000000" pitchFamily="50" charset="-52"/>
              </a:rPr>
              <a:t>Пошаговое руководство по </a:t>
            </a:r>
            <a:r>
              <a:rPr lang="ru-RU" sz="1300" b="1" dirty="0" smtClean="0">
                <a:latin typeface="Montserrat ExtraLight" panose="00000300000000000000" pitchFamily="50" charset="-52"/>
              </a:rPr>
              <a:t>компрометации </a:t>
            </a:r>
            <a:r>
              <a:rPr lang="ru-RU" sz="1300" b="1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300" b="1" dirty="0" smtClean="0">
                <a:latin typeface="Montserrat ExtraLight" panose="00000300000000000000" pitchFamily="50" charset="-52"/>
              </a:rPr>
              <a:t> – приложения </a:t>
            </a:r>
            <a:r>
              <a:rPr lang="en-US" sz="1300" b="1" dirty="0">
                <a:latin typeface="Montserrat ExtraLight" panose="00000300000000000000" pitchFamily="50" charset="-52"/>
              </a:rPr>
              <a:t>OWASP Juice Shop</a:t>
            </a:r>
            <a:r>
              <a:rPr lang="ru-RU" sz="1300" b="1" dirty="0" smtClean="0">
                <a:latin typeface="Montserrat ExtraLight" panose="00000300000000000000" pitchFamily="50" charset="-52"/>
              </a:rPr>
              <a:t>.</a:t>
            </a:r>
            <a:r>
              <a:rPr lang="ru-RU" sz="1000" dirty="0" smtClean="0">
                <a:latin typeface="Montserrat ExtraLight" panose="00000300000000000000" pitchFamily="50" charset="-52"/>
              </a:rPr>
              <a:t/>
            </a:r>
            <a:br>
              <a:rPr lang="ru-RU" sz="1000" dirty="0" smtClean="0">
                <a:latin typeface="Montserrat ExtraLight" panose="00000300000000000000" pitchFamily="50" charset="-52"/>
              </a:rPr>
            </a:b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  <a:br>
              <a:rPr lang="ru-RU" sz="1000" dirty="0" smtClean="0">
                <a:latin typeface="Montserrat ExtraLight" panose="00000300000000000000" pitchFamily="50" charset="-52"/>
              </a:rPr>
            </a:br>
            <a:r>
              <a:rPr lang="ru-RU" sz="1000" dirty="0" smtClean="0">
                <a:latin typeface="Montserrat ExtraLight" panose="00000300000000000000" pitchFamily="50" charset="-52"/>
              </a:rPr>
              <a:t>В ходе проверки </a:t>
            </a:r>
            <a:r>
              <a:rPr lang="en-US" sz="1000" dirty="0">
                <a:latin typeface="Montserrat ExtraLight" panose="00000300000000000000" pitchFamily="50" charset="-52"/>
              </a:rPr>
              <a:t>OWASP Juice </a:t>
            </a:r>
            <a:r>
              <a:rPr lang="en-US" sz="1000" dirty="0" smtClean="0">
                <a:latin typeface="Montserrat ExtraLight" panose="00000300000000000000" pitchFamily="50" charset="-52"/>
              </a:rPr>
              <a:t>Shop</a:t>
            </a:r>
            <a:r>
              <a:rPr lang="ru-RU" sz="1000" dirty="0" smtClean="0">
                <a:latin typeface="Montserrat ExtraLight" panose="00000300000000000000" pitchFamily="50" charset="-52"/>
              </a:rPr>
              <a:t> компании  </a:t>
            </a:r>
            <a:r>
              <a:rPr lang="en-US" sz="1000" dirty="0" smtClean="0">
                <a:latin typeface="Montserrat ExtraLight" panose="00000300000000000000" pitchFamily="50" charset="-52"/>
              </a:rPr>
              <a:t>Noda-Group</a:t>
            </a:r>
            <a:r>
              <a:rPr lang="ru-RU" sz="1000" dirty="0" smtClean="0">
                <a:latin typeface="Montserrat ExtraLight" panose="00000300000000000000" pitchFamily="50" charset="-52"/>
              </a:rPr>
              <a:t> удалось скомпрометировать ресурс (</a:t>
            </a:r>
            <a:r>
              <a:rPr lang="en-US" sz="1000" dirty="0">
                <a:latin typeface="Montserrat ExtraLight" panose="00000300000000000000" pitchFamily="50" charset="-52"/>
              </a:rPr>
              <a:t>Juice </a:t>
            </a:r>
            <a:r>
              <a:rPr lang="en-US" sz="1000" dirty="0" smtClean="0">
                <a:latin typeface="Montserrat ExtraLight" panose="00000300000000000000" pitchFamily="50" charset="-52"/>
              </a:rPr>
              <a:t>Shop</a:t>
            </a:r>
            <a:r>
              <a:rPr lang="ru-RU" sz="1000" dirty="0" smtClean="0">
                <a:latin typeface="Montserrat ExtraLight" panose="00000300000000000000" pitchFamily="50" charset="-52"/>
              </a:rPr>
              <a:t>), получить чувствительные данные самого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 приложения в виде истории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бэкапов</a:t>
            </a:r>
            <a:r>
              <a:rPr lang="ru-RU" sz="1000" dirty="0" smtClean="0">
                <a:latin typeface="Montserrat ExtraLight" panose="00000300000000000000" pitchFamily="50" charset="-52"/>
              </a:rPr>
              <a:t>,  полный перечень продуктов и товаров которые находится на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-приложении в частности скрытую информацию, получили доступ к </a:t>
            </a:r>
            <a:r>
              <a:rPr lang="ru-RU" sz="1000" dirty="0">
                <a:latin typeface="Montserrat ExtraLight" panose="00000300000000000000" pitchFamily="50" charset="-52"/>
              </a:rPr>
              <a:t>у</a:t>
            </a:r>
            <a:r>
              <a:rPr lang="ru-RU" sz="1000" dirty="0" smtClean="0">
                <a:latin typeface="Montserrat ExtraLight" panose="00000300000000000000" pitchFamily="50" charset="-52"/>
              </a:rPr>
              <a:t>четным данным администраторов также доступ к информации и персональным данным клиентов \ пользователей. Также получили полный доступ к администрированию ресурса с возможностью Выгрузки запрещённых файлов ( в частности те которые не отображаться по </a:t>
            </a:r>
            <a:r>
              <a:rPr lang="en-US" sz="1000" dirty="0" smtClean="0">
                <a:latin typeface="Montserrat ExtraLight" panose="00000300000000000000" pitchFamily="50" charset="-52"/>
              </a:rPr>
              <a:t>FTP</a:t>
            </a:r>
            <a:r>
              <a:rPr lang="ru-RU" sz="1000" dirty="0" smtClean="0">
                <a:latin typeface="Montserrat ExtraLight" panose="00000300000000000000" pitchFamily="50" charset="-52"/>
              </a:rPr>
              <a:t> доступу к серверу и не возможно было просмотреть эти файлы с клиентской части.) и Загрузки файлов неразрешённых типов и вредоносных скриптов. 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  <a:r>
              <a:rPr lang="ru-RU" sz="1400" b="1" dirty="0" smtClean="0">
                <a:latin typeface="Montserrat ExtraLight" panose="00000300000000000000" pitchFamily="50" charset="-52"/>
              </a:rPr>
              <a:t>Подробное прохождение.</a:t>
            </a:r>
          </a:p>
          <a:p>
            <a:pPr marL="0" indent="0">
              <a:buNone/>
            </a:pPr>
            <a:r>
              <a:rPr lang="ru-RU" sz="1000" dirty="0" smtClean="0">
                <a:latin typeface="Montserrat ExtraLight" panose="00000300000000000000" pitchFamily="50" charset="-52"/>
              </a:rPr>
              <a:t>Компании «</a:t>
            </a:r>
            <a:r>
              <a:rPr lang="en-US" sz="1000" dirty="0" smtClean="0">
                <a:latin typeface="Montserrat ExtraLight" panose="00000300000000000000" pitchFamily="50" charset="-52"/>
              </a:rPr>
              <a:t>Noda-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Grup</a:t>
            </a:r>
            <a:r>
              <a:rPr lang="ru-RU" sz="1000" dirty="0" smtClean="0">
                <a:latin typeface="Montserrat ExtraLight" panose="00000300000000000000" pitchFamily="50" charset="-52"/>
              </a:rPr>
              <a:t>» удалось скомпрометировать «</a:t>
            </a:r>
            <a:r>
              <a:rPr lang="ru-RU" sz="1000" dirty="0">
                <a:latin typeface="Montserrat ExtraLight" panose="00000300000000000000" pitchFamily="50" charset="-52"/>
              </a:rPr>
              <a:t>OWASP </a:t>
            </a:r>
            <a:r>
              <a:rPr lang="ru-RU" sz="1000" dirty="0" err="1">
                <a:latin typeface="Montserrat ExtraLight" panose="00000300000000000000" pitchFamily="50" charset="-52"/>
              </a:rPr>
              <a:t>Juice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Shop</a:t>
            </a:r>
            <a:r>
              <a:rPr lang="ru-RU" sz="1000" dirty="0" smtClean="0">
                <a:latin typeface="Montserrat ExtraLight" panose="00000300000000000000" pitchFamily="50" charset="-52"/>
              </a:rPr>
              <a:t>» благодаря следящим действиям. (Приведен перечень пошаговых действий) 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000" dirty="0" smtClean="0">
                <a:latin typeface="Montserrat ExtraLight" panose="00000300000000000000" pitchFamily="50" charset="-52"/>
              </a:rPr>
              <a:t>Была произведена предварительная подготовка, в частности отсмотрен и протестирован базовый функционал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-приложения, другими словами были эмитированы действия обычного пользователя </a:t>
            </a:r>
            <a:r>
              <a:rPr lang="en-US" sz="1000" dirty="0" smtClean="0">
                <a:latin typeface="Montserrat ExtraLight" panose="00000300000000000000" pitchFamily="50" charset="-52"/>
              </a:rPr>
              <a:t>(</a:t>
            </a:r>
            <a:r>
              <a:rPr lang="en-US" sz="1000" dirty="0">
                <a:latin typeface="Montserrat ExtraLight" panose="00000300000000000000" pitchFamily="50" charset="-52"/>
              </a:rPr>
              <a:t>https://demo.owasp-juice.shop</a:t>
            </a:r>
            <a:r>
              <a:rPr lang="en-US" sz="1000" dirty="0" smtClean="0">
                <a:latin typeface="Montserrat ExtraLight" panose="00000300000000000000" pitchFamily="50" charset="-52"/>
              </a:rPr>
              <a:t>/#/)</a:t>
            </a:r>
            <a:endParaRPr lang="ru-RU" sz="1000" dirty="0" smtClean="0">
              <a:latin typeface="Montserrat ExtraLight" panose="00000300000000000000" pitchFamily="50" charset="-52"/>
            </a:endParaRPr>
          </a:p>
          <a:p>
            <a:pPr marL="228600" indent="-228600">
              <a:buAutoNum type="arabicParenR"/>
            </a:pPr>
            <a:r>
              <a:rPr lang="ru-RU" sz="1000" dirty="0" smtClean="0">
                <a:latin typeface="Montserrat ExtraLight" panose="00000300000000000000" pitchFamily="50" charset="-52"/>
              </a:rPr>
              <a:t>Просканирован домен через «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nmap</a:t>
            </a:r>
            <a:r>
              <a:rPr lang="ru-RU" sz="1000" dirty="0" smtClean="0">
                <a:latin typeface="Montserrat ExtraLight" panose="00000300000000000000" pitchFamily="50" charset="-52"/>
              </a:rPr>
              <a:t>» и выявлен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айпи</a:t>
            </a:r>
            <a:r>
              <a:rPr lang="ru-RU" sz="1000" dirty="0" smtClean="0">
                <a:latin typeface="Montserrat ExtraLight" panose="00000300000000000000" pitchFamily="50" charset="-52"/>
              </a:rPr>
              <a:t> адрес и открытые </a:t>
            </a:r>
            <a:r>
              <a:rPr lang="ru-RU" sz="1000" dirty="0">
                <a:latin typeface="Montserrat ExtraLight" panose="00000300000000000000" pitchFamily="50" charset="-52"/>
              </a:rPr>
              <a:t>порты «81.169.145.156» </a:t>
            </a:r>
            <a:endParaRPr lang="ru-RU" sz="1000" dirty="0" smtClean="0">
              <a:latin typeface="Montserrat ExtraLight" panose="00000300000000000000" pitchFamily="50" charset="-52"/>
            </a:endParaRPr>
          </a:p>
          <a:p>
            <a:pPr marL="228600" indent="-228600">
              <a:buAutoNum type="arabicParenR"/>
            </a:pPr>
            <a:r>
              <a:rPr lang="ru-RU" sz="1000" dirty="0" smtClean="0">
                <a:latin typeface="Montserrat ExtraLight" panose="00000300000000000000" pitchFamily="50" charset="-52"/>
              </a:rPr>
              <a:t>Запущено сканирование директорий вэ-приложения через инструмент «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dirb</a:t>
            </a:r>
            <a:r>
              <a:rPr lang="ru-RU" sz="1000" dirty="0" smtClean="0">
                <a:latin typeface="Montserrat ExtraLight" panose="00000300000000000000" pitchFamily="50" charset="-52"/>
              </a:rPr>
              <a:t>» было найдено некоторые директории , тестер будет использовать (</a:t>
            </a:r>
            <a:r>
              <a:rPr lang="en-US" sz="1000" dirty="0" smtClean="0">
                <a:latin typeface="Montserrat ExtraLight" panose="00000300000000000000" pitchFamily="50" charset="-52"/>
              </a:rPr>
              <a:t>ftp, support, log, 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administrtions</a:t>
            </a:r>
            <a:r>
              <a:rPr lang="en-US" sz="1000" dirty="0" smtClean="0">
                <a:latin typeface="Montserrat ExtraLight" panose="00000300000000000000" pitchFamily="50" charset="-52"/>
              </a:rPr>
              <a:t> and other…)</a:t>
            </a: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</a:p>
          <a:p>
            <a:pPr marL="228600" indent="-228600">
              <a:buAutoNum type="arabicParenR"/>
            </a:pPr>
            <a:r>
              <a:rPr lang="ru-RU" sz="1000" dirty="0" smtClean="0">
                <a:latin typeface="Montserrat ExtraLight" panose="00000300000000000000" pitchFamily="50" charset="-52"/>
              </a:rPr>
              <a:t>Запущено сканирование файлов 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 приложения через инструмент «</a:t>
            </a:r>
            <a:r>
              <a:rPr lang="en-US" sz="1000" dirty="0" smtClean="0">
                <a:latin typeface="Montserrat ExtraLight" panose="00000300000000000000" pitchFamily="50" charset="-52"/>
              </a:rPr>
              <a:t>FFUF</a:t>
            </a:r>
            <a:r>
              <a:rPr lang="ru-RU" sz="1000" dirty="0" smtClean="0">
                <a:latin typeface="Montserrat ExtraLight" panose="00000300000000000000" pitchFamily="50" charset="-52"/>
              </a:rPr>
              <a:t>» были найдены определённые файлы, тестер будет использовать  (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package.json</a:t>
            </a:r>
            <a:r>
              <a:rPr lang="en-US" sz="1000" dirty="0" smtClean="0">
                <a:latin typeface="Montserrat ExtraLight" panose="00000300000000000000" pitchFamily="50" charset="-52"/>
              </a:rPr>
              <a:t>, 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logfile.bk</a:t>
            </a:r>
            <a:r>
              <a:rPr lang="en-US" sz="1000" dirty="0" smtClean="0">
                <a:latin typeface="Montserrat ExtraLight" panose="00000300000000000000" pitchFamily="50" charset="-52"/>
              </a:rPr>
              <a:t>, </a:t>
            </a:r>
            <a:r>
              <a:rPr lang="ru-RU" sz="1000" dirty="0" smtClean="0">
                <a:latin typeface="Montserrat ExtraLight" panose="00000300000000000000" pitchFamily="50" charset="-52"/>
              </a:rPr>
              <a:t> ) 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000" dirty="0" smtClean="0">
                <a:latin typeface="Montserrat ExtraLight" panose="00000300000000000000" pitchFamily="50" charset="-52"/>
              </a:rPr>
              <a:t>Была произведена попытка классической «</a:t>
            </a:r>
            <a:r>
              <a:rPr lang="en-US" sz="1000" dirty="0" smtClean="0">
                <a:latin typeface="Montserrat ExtraLight" panose="00000300000000000000" pitchFamily="50" charset="-52"/>
              </a:rPr>
              <a:t>SQL-injection</a:t>
            </a:r>
            <a:r>
              <a:rPr lang="ru-RU" sz="1000" dirty="0" smtClean="0">
                <a:latin typeface="Montserrat ExtraLight" panose="00000300000000000000" pitchFamily="50" charset="-52"/>
              </a:rPr>
              <a:t>» в окно ввода учетной записи  и сразу же получен доступ администратора. «</a:t>
            </a:r>
            <a:r>
              <a:rPr lang="en-US" sz="1000" dirty="0">
                <a:latin typeface="Montserrat ExtraLight" panose="00000300000000000000" pitchFamily="50" charset="-52"/>
              </a:rPr>
              <a:t>https://</a:t>
            </a:r>
            <a:r>
              <a:rPr lang="en-US" sz="1000" dirty="0" smtClean="0">
                <a:latin typeface="Montserrat ExtraLight" panose="00000300000000000000" pitchFamily="50" charset="-52"/>
              </a:rPr>
              <a:t>demo.owasp-juice.shop/login</a:t>
            </a:r>
            <a:r>
              <a:rPr lang="ru-RU" sz="1000" dirty="0" smtClean="0">
                <a:latin typeface="Montserrat ExtraLight" panose="00000300000000000000" pitchFamily="50" charset="-52"/>
              </a:rPr>
              <a:t>»</a:t>
            </a: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r>
              <a:rPr lang="ru-RU" sz="1000" dirty="0" smtClean="0">
                <a:latin typeface="Montserrat ExtraLight" panose="00000300000000000000" pitchFamily="50" charset="-52"/>
              </a:rPr>
              <a:t>и стразу был получен доступ к «</a:t>
            </a:r>
            <a:r>
              <a:rPr lang="en-US" sz="1000" dirty="0">
                <a:latin typeface="Montserrat ExtraLight" panose="00000300000000000000" pitchFamily="50" charset="-52"/>
              </a:rPr>
              <a:t>https://</a:t>
            </a:r>
            <a:r>
              <a:rPr lang="en-US" sz="1000" dirty="0" smtClean="0">
                <a:latin typeface="Montserrat ExtraLight" panose="00000300000000000000" pitchFamily="50" charset="-52"/>
              </a:rPr>
              <a:t>demo.owasp-juice.shop/profile</a:t>
            </a:r>
            <a:r>
              <a:rPr lang="ru-RU" sz="1000" dirty="0" smtClean="0">
                <a:latin typeface="Montserrat ExtraLight" panose="00000300000000000000" pitchFamily="50" charset="-52"/>
              </a:rPr>
              <a:t>»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smtClean="0">
                <a:latin typeface="Montserrat ExtraLight" panose="00000300000000000000" pitchFamily="50" charset="-52"/>
              </a:rPr>
              <a:t>Был произведен сброс пароля Администратора и тем самым проверенная функция «</a:t>
            </a:r>
            <a:r>
              <a:rPr lang="en-US" sz="1000" dirty="0">
                <a:latin typeface="Montserrat ExtraLight" panose="00000300000000000000" pitchFamily="50" charset="-52"/>
              </a:rPr>
              <a:t>Broken Access control /</a:t>
            </a:r>
            <a:r>
              <a:rPr lang="en-US" sz="10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Authentication </a:t>
            </a:r>
            <a:r>
              <a:rPr lang="en-US" sz="1000" dirty="0" smtClean="0">
                <a:solidFill>
                  <a:schemeClr val="dk1"/>
                </a:solidFill>
                <a:latin typeface="Montserrat ExtraLight" panose="00000300000000000000" pitchFamily="50" charset="-52"/>
              </a:rPr>
              <a:t>Bypass</a:t>
            </a:r>
            <a:r>
              <a:rPr lang="ru-RU" sz="1000" dirty="0" smtClean="0">
                <a:latin typeface="Montserrat ExtraLight" panose="00000300000000000000" pitchFamily="50" charset="-52"/>
              </a:rPr>
              <a:t>» </a:t>
            </a:r>
          </a:p>
          <a:p>
            <a:pPr marL="228600" indent="-228600">
              <a:buAutoNum type="arabicParenR"/>
            </a:pPr>
            <a:r>
              <a:rPr lang="ru-RU" sz="1000" dirty="0" smtClean="0">
                <a:latin typeface="Montserrat ExtraLight" panose="00000300000000000000" pitchFamily="50" charset="-52"/>
              </a:rPr>
              <a:t>Получен доступ к файлу «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package.json</a:t>
            </a:r>
            <a:r>
              <a:rPr lang="ru-RU" sz="1000" dirty="0" smtClean="0">
                <a:latin typeface="Montserrat ExtraLight" panose="00000300000000000000" pitchFamily="50" charset="-52"/>
              </a:rPr>
              <a:t>» при помаши инструмента «</a:t>
            </a:r>
            <a:r>
              <a:rPr lang="en-US" sz="1000" dirty="0" smtClean="0">
                <a:latin typeface="Montserrat ExtraLight" panose="00000300000000000000" pitchFamily="50" charset="-52"/>
              </a:rPr>
              <a:t>FFUF</a:t>
            </a:r>
            <a:r>
              <a:rPr lang="ru-RU" sz="1000" dirty="0" smtClean="0">
                <a:latin typeface="Montserrat ExtraLight" panose="00000300000000000000" pitchFamily="50" charset="-52"/>
              </a:rPr>
              <a:t>» и уязвимости «</a:t>
            </a:r>
            <a:r>
              <a:rPr lang="en-US" sz="1000" dirty="0">
                <a:latin typeface="Montserrat ExtraLight" panose="00000300000000000000" pitchFamily="50" charset="-52"/>
              </a:rPr>
              <a:t>bypass access restrictions</a:t>
            </a:r>
            <a:r>
              <a:rPr lang="ru-RU" sz="1000" dirty="0" smtClean="0">
                <a:latin typeface="Montserrat ExtraLight" panose="00000300000000000000" pitchFamily="50" charset="-52"/>
              </a:rPr>
              <a:t>», и это даёт нам дополнительную информацию о архитектуре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-приложения и его уязвимостях. </a:t>
            </a:r>
          </a:p>
          <a:p>
            <a:pPr marL="228600" indent="-228600">
              <a:buAutoNum type="arabicParenR"/>
            </a:pPr>
            <a:r>
              <a:rPr lang="uk-UA" sz="1000" dirty="0" err="1" smtClean="0">
                <a:latin typeface="Montserrat ExtraLight" panose="00000300000000000000" pitchFamily="50" charset="-52"/>
              </a:rPr>
              <a:t>Была</a:t>
            </a:r>
            <a:r>
              <a:rPr lang="uk-UA" sz="1000" dirty="0" smtClean="0">
                <a:latin typeface="Montserrat ExtraLight" panose="00000300000000000000" pitchFamily="50" charset="-52"/>
              </a:rPr>
              <a:t> виявлена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узвимость</a:t>
            </a:r>
            <a:r>
              <a:rPr lang="uk-UA" sz="1000" dirty="0" smtClean="0">
                <a:latin typeface="Montserrat ExtraLight" panose="00000300000000000000" pitchFamily="50" charset="-52"/>
              </a:rPr>
              <a:t> в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базе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данных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отзывов</a:t>
            </a:r>
            <a:r>
              <a:rPr lang="uk-UA" sz="1000" dirty="0" smtClean="0">
                <a:latin typeface="Montserrat ExtraLight" panose="00000300000000000000" pitchFamily="50" charset="-52"/>
              </a:rPr>
              <a:t> о товаре и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проэксплуатирована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путём</a:t>
            </a:r>
            <a:r>
              <a:rPr lang="uk-UA" sz="1000" dirty="0" smtClean="0">
                <a:latin typeface="Montserrat ExtraLight" panose="00000300000000000000" pitchFamily="50" charset="-52"/>
              </a:rPr>
              <a:t> добавлений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определённого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сообшения</a:t>
            </a:r>
            <a:r>
              <a:rPr lang="uk-UA" sz="1000" dirty="0" smtClean="0">
                <a:latin typeface="Montserrat ExtraLight" panose="00000300000000000000" pitchFamily="50" charset="-52"/>
              </a:rPr>
              <a:t> от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имени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всех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пользователей</a:t>
            </a:r>
            <a:r>
              <a:rPr lang="uk-UA" sz="1000" dirty="0" smtClean="0">
                <a:latin typeface="Montserrat ExtraLight" panose="00000300000000000000" pitchFamily="50" charset="-52"/>
              </a:rPr>
              <a:t>.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Это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действие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быо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выполнено</a:t>
            </a:r>
            <a:r>
              <a:rPr lang="uk-UA" sz="1000" dirty="0" smtClean="0">
                <a:latin typeface="Montserrat ExtraLight" panose="00000300000000000000" pitchFamily="50" charset="-52"/>
              </a:rPr>
              <a:t> через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инструмент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 err="1">
                <a:latin typeface="Montserrat ExtraLight" panose="00000300000000000000" pitchFamily="50" charset="-52"/>
              </a:rPr>
              <a:t>BurpSuite</a:t>
            </a:r>
            <a:r>
              <a:rPr lang="uk-UA" sz="1000" dirty="0" smtClean="0">
                <a:latin typeface="Montserrat ExtraLight" panose="00000300000000000000" pitchFamily="50" charset="-52"/>
              </a:rPr>
              <a:t>»  и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из</a:t>
            </a:r>
            <a:r>
              <a:rPr lang="uk-UA" sz="1000" dirty="0" smtClean="0">
                <a:latin typeface="Montserrat ExtraLight" panose="00000300000000000000" pitchFamily="50" charset="-52"/>
              </a:rPr>
              <a:t>-за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присудствия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уязвимоти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>
                <a:latin typeface="Montserrat ExtraLight" panose="00000300000000000000" pitchFamily="50" charset="-52"/>
              </a:rPr>
              <a:t>NoSQL </a:t>
            </a:r>
            <a:r>
              <a:rPr lang="en-US" sz="1000" dirty="0" smtClean="0">
                <a:latin typeface="Montserrat ExtraLight" panose="00000300000000000000" pitchFamily="50" charset="-52"/>
              </a:rPr>
              <a:t>Manipulation</a:t>
            </a:r>
            <a:r>
              <a:rPr lang="ru-RU" sz="1000" dirty="0" smtClean="0">
                <a:latin typeface="Montserrat ExtraLight" panose="00000300000000000000" pitchFamily="50" charset="-52"/>
              </a:rPr>
              <a:t>»</a:t>
            </a:r>
            <a:endParaRPr lang="uk-UA" sz="1000" dirty="0" smtClean="0">
              <a:latin typeface="Montserrat ExtraLight" panose="00000300000000000000" pitchFamily="50" charset="-52"/>
            </a:endParaRPr>
          </a:p>
          <a:p>
            <a:pPr marL="228600" indent="-228600">
              <a:buAutoNum type="arabicParenR"/>
            </a:pPr>
            <a:r>
              <a:rPr lang="uk-UA" sz="1000" dirty="0" smtClean="0">
                <a:latin typeface="Montserrat ExtraLight" panose="00000300000000000000" pitchFamily="50" charset="-52"/>
              </a:rPr>
              <a:t>При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помоши</a:t>
            </a:r>
            <a:r>
              <a:rPr lang="uk-UA" sz="1000" dirty="0" smtClean="0">
                <a:latin typeface="Montserrat ExtraLight" panose="00000300000000000000" pitchFamily="50" charset="-52"/>
              </a:rPr>
              <a:t> інструмента «</a:t>
            </a:r>
            <a:r>
              <a:rPr lang="en-US" sz="1000" dirty="0" err="1">
                <a:latin typeface="Montserrat ExtraLight" panose="00000300000000000000" pitchFamily="50" charset="-52"/>
              </a:rPr>
              <a:t>BurpSuite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были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найдены</a:t>
            </a:r>
            <a:r>
              <a:rPr lang="uk-UA" sz="1000" dirty="0" smtClean="0">
                <a:latin typeface="Montserrat ExtraLight" panose="00000300000000000000" pitchFamily="50" charset="-52"/>
              </a:rPr>
              <a:t> и 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использованы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узвимости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>
                <a:latin typeface="Montserrat ExtraLight" panose="00000300000000000000" pitchFamily="50" charset="-52"/>
              </a:rPr>
              <a:t>bypass access restrictions</a:t>
            </a:r>
            <a:r>
              <a:rPr lang="uk-UA" sz="1000" dirty="0" smtClean="0">
                <a:latin typeface="Montserrat ExtraLight" panose="00000300000000000000" pitchFamily="50" charset="-52"/>
              </a:rPr>
              <a:t>»  и «</a:t>
            </a:r>
            <a:r>
              <a:rPr lang="en-US" sz="1000" dirty="0" smtClean="0">
                <a:latin typeface="Montserrat ExtraLight" panose="00000300000000000000" pitchFamily="50" charset="-52"/>
              </a:rPr>
              <a:t>NoSQL-injection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получен</a:t>
            </a:r>
            <a:r>
              <a:rPr lang="uk-UA" sz="1000" dirty="0" smtClean="0">
                <a:latin typeface="Montserrat ExtraLight" panose="00000300000000000000" pitchFamily="50" charset="-52"/>
              </a:rPr>
              <a:t> доступ ко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всем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акаунтам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пользовтаелей</a:t>
            </a:r>
            <a:r>
              <a:rPr lang="uk-UA" sz="1000" dirty="0" smtClean="0">
                <a:latin typeface="Montserrat ExtraLight" panose="00000300000000000000" pitchFamily="50" charset="-52"/>
              </a:rPr>
              <a:t> и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администоров</a:t>
            </a:r>
            <a:r>
              <a:rPr lang="uk-UA" sz="1000" dirty="0" smtClean="0">
                <a:latin typeface="Montserrat ExtraLight" panose="00000300000000000000" pitchFamily="50" charset="-52"/>
              </a:rPr>
              <a:t> . </a:t>
            </a:r>
          </a:p>
          <a:p>
            <a:pPr marL="228600" indent="-228600">
              <a:buAutoNum type="arabicParenR"/>
            </a:pPr>
            <a:endParaRPr lang="uk-UA" sz="1000" dirty="0" smtClean="0">
              <a:latin typeface="Montserrat ExtraLight" panose="00000300000000000000" pitchFamily="50" charset="-52"/>
            </a:endParaRPr>
          </a:p>
          <a:p>
            <a:pPr marL="228600" indent="-228600">
              <a:buAutoNum type="arabicParenR"/>
            </a:pPr>
            <a:endParaRPr lang="ru-RU" sz="1000" dirty="0" smtClean="0">
              <a:latin typeface="Montserrat ExtraLight" panose="00000300000000000000" pitchFamily="50" charset="-52"/>
            </a:endParaRPr>
          </a:p>
          <a:p>
            <a:pPr marL="228600" indent="-228600">
              <a:buAutoNum type="arabicParenR"/>
            </a:pP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13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314567"/>
          </a:xfrm>
        </p:spPr>
        <p:txBody>
          <a:bodyPr>
            <a:normAutofit/>
          </a:bodyPr>
          <a:lstStyle/>
          <a:p>
            <a:r>
              <a:rPr lang="ru-RU" sz="1000" dirty="0">
                <a:latin typeface="Montserrat ExtraLight" panose="00000300000000000000" pitchFamily="50" charset="-52"/>
              </a:rPr>
              <a:t>Пошаговое руководство по компрометации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-приложения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71487" y="915216"/>
            <a:ext cx="62552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Montserrat ExtraLight" panose="00000300000000000000" pitchFamily="50" charset="-52"/>
              </a:rPr>
              <a:t>2</a:t>
            </a:r>
            <a:r>
              <a:rPr lang="ru-RU" sz="1000" dirty="0" smtClean="0">
                <a:latin typeface="Montserrat ExtraLight" panose="00000300000000000000" pitchFamily="50" charset="-52"/>
              </a:rPr>
              <a:t>)Сканирование </a:t>
            </a:r>
            <a:r>
              <a:rPr lang="ru-RU" sz="1000" dirty="0">
                <a:latin typeface="Montserrat ExtraLight" panose="00000300000000000000" pitchFamily="50" charset="-52"/>
              </a:rPr>
              <a:t>домена на предмет открытых портов и </a:t>
            </a:r>
            <a:r>
              <a:rPr lang="ru-RU" sz="1000" dirty="0" err="1">
                <a:latin typeface="Montserrat ExtraLight" panose="00000300000000000000" pitchFamily="50" charset="-52"/>
              </a:rPr>
              <a:t>айпи</a:t>
            </a:r>
            <a:r>
              <a:rPr lang="ru-RU" sz="1000" dirty="0">
                <a:latin typeface="Montserrat ExtraLight" panose="00000300000000000000" pitchFamily="50" charset="-52"/>
              </a:rPr>
              <a:t> адреса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68"/>
          <a:stretch/>
        </p:blipFill>
        <p:spPr>
          <a:xfrm>
            <a:off x="1231976" y="1193386"/>
            <a:ext cx="4734258" cy="325721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28129" y="4523846"/>
            <a:ext cx="60017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Montserrat ExtraLight" panose="00000300000000000000" pitchFamily="50" charset="-52"/>
              </a:rPr>
              <a:t>3</a:t>
            </a:r>
            <a:r>
              <a:rPr lang="ru-RU" sz="1000" dirty="0" smtClean="0">
                <a:latin typeface="Montserrat ExtraLight" panose="00000300000000000000" pitchFamily="50" charset="-52"/>
              </a:rPr>
              <a:t>)Сканируем </a:t>
            </a:r>
            <a:r>
              <a:rPr lang="ru-RU" sz="1000" dirty="0" err="1">
                <a:latin typeface="Montserrat ExtraLight" panose="00000300000000000000" pitchFamily="50" charset="-52"/>
              </a:rPr>
              <a:t>дериктории</a:t>
            </a:r>
            <a:r>
              <a:rPr lang="ru-RU" sz="1000" dirty="0">
                <a:latin typeface="Montserrat ExtraLight" panose="00000300000000000000" pitchFamily="50" charset="-52"/>
              </a:rPr>
              <a:t> при </a:t>
            </a:r>
            <a:r>
              <a:rPr lang="ru-RU" sz="1000" dirty="0" err="1">
                <a:latin typeface="Montserrat ExtraLight" panose="00000300000000000000" pitchFamily="50" charset="-52"/>
              </a:rPr>
              <a:t>помоши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интрумента</a:t>
            </a:r>
            <a:r>
              <a:rPr lang="ru-RU" sz="1000" dirty="0">
                <a:latin typeface="Montserrat ExtraLight" panose="00000300000000000000" pitchFamily="50" charset="-52"/>
              </a:rPr>
              <a:t> «</a:t>
            </a:r>
            <a:r>
              <a:rPr lang="en-US" sz="1000" dirty="0" err="1">
                <a:latin typeface="Montserrat ExtraLight" panose="00000300000000000000" pitchFamily="50" charset="-52"/>
              </a:rPr>
              <a:t>dirb</a:t>
            </a:r>
            <a:r>
              <a:rPr lang="ru-RU" sz="1000" dirty="0">
                <a:latin typeface="Montserrat ExtraLight" panose="00000300000000000000" pitchFamily="50" charset="-52"/>
              </a:rPr>
              <a:t>»  и получаем видимые </a:t>
            </a:r>
            <a:r>
              <a:rPr lang="ru-RU" sz="1000" dirty="0" err="1">
                <a:latin typeface="Montserrat ExtraLight" panose="00000300000000000000" pitchFamily="50" charset="-52"/>
              </a:rPr>
              <a:t>дериктории</a:t>
            </a:r>
            <a:endParaRPr lang="ru-RU" sz="1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395" y="4997200"/>
            <a:ext cx="4365420" cy="2688879"/>
          </a:xfrm>
          <a:prstGeom prst="rect">
            <a:avLst/>
          </a:prstGeom>
        </p:spPr>
      </p:pic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92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1625" y="297845"/>
            <a:ext cx="64245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4)Переходим </a:t>
            </a:r>
            <a:r>
              <a:rPr lang="ru-RU" sz="1000" dirty="0">
                <a:latin typeface="Montserrat ExtraLight" panose="00000300000000000000" pitchFamily="50" charset="-52"/>
              </a:rPr>
              <a:t>в инструмент «</a:t>
            </a:r>
            <a:r>
              <a:rPr lang="en-US" sz="1000" dirty="0">
                <a:latin typeface="Montserrat ExtraLight" panose="00000300000000000000" pitchFamily="50" charset="-52"/>
              </a:rPr>
              <a:t>FFUF</a:t>
            </a:r>
            <a:r>
              <a:rPr lang="ru-RU" sz="1000" dirty="0">
                <a:latin typeface="Montserrat ExtraLight" panose="00000300000000000000" pitchFamily="50" charset="-52"/>
              </a:rPr>
              <a:t>» и запускаем сканирование файлов доменного имени  и получаем результат в виде найденных файлов и директорий. </a:t>
            </a:r>
            <a:endParaRPr lang="ru-RU" sz="1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25" y="697955"/>
            <a:ext cx="6424565" cy="415752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11624" y="4921654"/>
            <a:ext cx="642456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5)Параллельно </a:t>
            </a:r>
            <a:r>
              <a:rPr lang="ru-RU" sz="1000" dirty="0">
                <a:latin typeface="Montserrat ExtraLight" panose="00000300000000000000" pitchFamily="50" charset="-52"/>
              </a:rPr>
              <a:t>с этим на нам необходимо перейти по адресу </a:t>
            </a:r>
            <a:r>
              <a:rPr lang="ru-RU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b="1" dirty="0">
                <a:latin typeface="Montserrat ExtraLight" panose="00000300000000000000" pitchFamily="50" charset="-52"/>
              </a:rPr>
              <a:t>https://demo.owasp-juice.shop</a:t>
            </a:r>
            <a:r>
              <a:rPr lang="ru-RU" sz="1000" dirty="0" smtClean="0">
                <a:latin typeface="Montserrat ExtraLight" panose="00000300000000000000" pitchFamily="50" charset="-52"/>
              </a:rPr>
              <a:t>» </a:t>
            </a:r>
            <a:r>
              <a:rPr lang="ru-RU" sz="1000" dirty="0">
                <a:latin typeface="Montserrat ExtraLight" panose="00000300000000000000" pitchFamily="50" charset="-52"/>
              </a:rPr>
              <a:t>и войти в учетную запись. При этом обращаю внимание что помимо «</a:t>
            </a:r>
            <a:r>
              <a:rPr lang="en-US" sz="1000" dirty="0">
                <a:latin typeface="Montserrat ExtraLight" panose="00000300000000000000" pitchFamily="50" charset="-52"/>
              </a:rPr>
              <a:t>SQL –</a:t>
            </a:r>
            <a:r>
              <a:rPr lang="en-US" sz="1000" dirty="0" err="1">
                <a:latin typeface="Montserrat ExtraLight" panose="00000300000000000000" pitchFamily="50" charset="-52"/>
              </a:rPr>
              <a:t>Injaction</a:t>
            </a:r>
            <a:r>
              <a:rPr lang="ru-RU" sz="1000" dirty="0">
                <a:latin typeface="Montserrat ExtraLight" panose="00000300000000000000" pitchFamily="50" charset="-52"/>
              </a:rPr>
              <a:t>» которая вызывается путем ввода </a:t>
            </a:r>
            <a:r>
              <a:rPr lang="ru-RU" sz="1000" dirty="0" err="1">
                <a:latin typeface="Montserrat ExtraLight" panose="00000300000000000000" pitchFamily="50" charset="-52"/>
              </a:rPr>
              <a:t>слеующей</a:t>
            </a:r>
            <a:r>
              <a:rPr lang="ru-RU" sz="1000" dirty="0">
                <a:latin typeface="Montserrat ExtraLight" panose="00000300000000000000" pitchFamily="50" charset="-52"/>
              </a:rPr>
              <a:t> комбинации</a:t>
            </a:r>
            <a:r>
              <a:rPr lang="en-US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>
                <a:latin typeface="Montserrat ExtraLight" panose="00000300000000000000" pitchFamily="50" charset="-52"/>
              </a:rPr>
              <a:t> «</a:t>
            </a:r>
            <a:r>
              <a:rPr lang="en-US" sz="1000" dirty="0">
                <a:latin typeface="Montserrat ExtraLight" panose="00000300000000000000" pitchFamily="50" charset="-52"/>
              </a:rPr>
              <a:t> ‘ or 1=1-- </a:t>
            </a:r>
            <a:r>
              <a:rPr lang="en-US" sz="1000" dirty="0" smtClean="0">
                <a:latin typeface="Montserrat ExtraLight" panose="00000300000000000000" pitchFamily="50" charset="-52"/>
              </a:rPr>
              <a:t>-’</a:t>
            </a:r>
            <a:r>
              <a:rPr lang="ru-RU" sz="1000" dirty="0" smtClean="0">
                <a:latin typeface="Montserrat ExtraLight" panose="00000300000000000000" pitchFamily="50" charset="-52"/>
              </a:rPr>
              <a:t>»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7"/>
          <a:stretch/>
        </p:blipFill>
        <p:spPr>
          <a:xfrm>
            <a:off x="307818" y="5509520"/>
            <a:ext cx="6156357" cy="3569656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11623" y="9079176"/>
            <a:ext cx="67142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Наблюдается </a:t>
            </a:r>
            <a:r>
              <a:rPr lang="ru-RU" sz="1000" dirty="0">
                <a:latin typeface="Montserrat ExtraLight" panose="00000300000000000000" pitchFamily="50" charset="-52"/>
              </a:rPr>
              <a:t>проблема ,</a:t>
            </a:r>
            <a:r>
              <a:rPr lang="en-US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>
                <a:latin typeface="Montserrat ExtraLight" panose="00000300000000000000" pitchFamily="50" charset="-52"/>
              </a:rPr>
              <a:t>дефолтного  пароля учётной записи «</a:t>
            </a:r>
            <a:r>
              <a:rPr lang="en-US" sz="1000" dirty="0">
                <a:latin typeface="Montserrat ExtraLight" panose="00000300000000000000" pitchFamily="50" charset="-52"/>
              </a:rPr>
              <a:t>admin@juice-sh.op</a:t>
            </a:r>
            <a:r>
              <a:rPr lang="ru-RU" sz="1000" dirty="0">
                <a:latin typeface="Montserrat ExtraLight" panose="00000300000000000000" pitchFamily="50" charset="-52"/>
              </a:rPr>
              <a:t>»  </a:t>
            </a:r>
            <a:r>
              <a:rPr lang="ru-RU" sz="1000" dirty="0" smtClean="0">
                <a:latin typeface="Montserrat ExtraLight" panose="00000300000000000000" pitchFamily="50" charset="-52"/>
              </a:rPr>
              <a:t>пароль </a:t>
            </a:r>
            <a:r>
              <a:rPr lang="ru-RU" sz="1000" dirty="0">
                <a:latin typeface="Montserrat ExtraLight" panose="00000300000000000000" pitchFamily="50" charset="-52"/>
              </a:rPr>
              <a:t>«</a:t>
            </a:r>
            <a:r>
              <a:rPr lang="en-US" sz="1000" dirty="0">
                <a:latin typeface="Montserrat ExtraLight" panose="00000300000000000000" pitchFamily="50" charset="-52"/>
              </a:rPr>
              <a:t>admin123</a:t>
            </a:r>
            <a:r>
              <a:rPr lang="ru-RU" sz="1000" dirty="0">
                <a:latin typeface="Montserrat ExtraLight" panose="00000300000000000000" pitchFamily="50" charset="-52"/>
              </a:rPr>
              <a:t>»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82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47838" y="344032"/>
            <a:ext cx="62525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6)Первым </a:t>
            </a:r>
            <a:r>
              <a:rPr lang="ru-RU" sz="1000" dirty="0">
                <a:latin typeface="Montserrat ExtraLight" panose="00000300000000000000" pitchFamily="50" charset="-52"/>
              </a:rPr>
              <a:t>делом надо войти в учетную запись «</a:t>
            </a:r>
            <a:r>
              <a:rPr lang="en-US" sz="1000" dirty="0">
                <a:latin typeface="Montserrat ExtraLight" panose="00000300000000000000" pitchFamily="50" charset="-52"/>
              </a:rPr>
              <a:t>https://demo.owasp-juice.shop/#/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en-US" sz="1000" dirty="0">
                <a:latin typeface="Montserrat ExtraLight" panose="00000300000000000000" pitchFamily="50" charset="-52"/>
              </a:rPr>
              <a:t>login</a:t>
            </a:r>
            <a:r>
              <a:rPr lang="ru-RU" sz="1000" dirty="0">
                <a:latin typeface="Montserrat ExtraLight" panose="00000300000000000000" pitchFamily="50" charset="-52"/>
              </a:rPr>
              <a:t>» потом перейти по ссылке </a:t>
            </a:r>
            <a:r>
              <a:rPr lang="en-US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>
                <a:latin typeface="Montserrat ExtraLight" panose="00000300000000000000" pitchFamily="50" charset="-52"/>
                <a:hlinkClick r:id="rId2"/>
              </a:rPr>
              <a:t>«</a:t>
            </a:r>
            <a:r>
              <a:rPr lang="en-US" sz="1000" dirty="0">
                <a:latin typeface="Montserrat ExtraLight" panose="00000300000000000000" pitchFamily="50" charset="-52"/>
                <a:hlinkClick r:id="rId2"/>
              </a:rPr>
              <a:t>https://demo.owasp-juice.shop/#/privacy-security/change-password</a:t>
            </a:r>
            <a:r>
              <a:rPr lang="ru-RU" sz="1000" dirty="0">
                <a:latin typeface="Montserrat ExtraLight" panose="00000300000000000000" pitchFamily="50" charset="-52"/>
              </a:rPr>
              <a:t>» и открыть </a:t>
            </a:r>
            <a:r>
              <a:rPr lang="ru-RU" sz="1000" dirty="0" err="1">
                <a:latin typeface="Montserrat ExtraLight" panose="00000300000000000000" pitchFamily="50" charset="-52"/>
              </a:rPr>
              <a:t>инстркмент</a:t>
            </a:r>
            <a:r>
              <a:rPr lang="ru-RU" sz="1000" dirty="0">
                <a:latin typeface="Montserrat ExtraLight" panose="00000300000000000000" pitchFamily="50" charset="-52"/>
              </a:rPr>
              <a:t> «</a:t>
            </a:r>
            <a:r>
              <a:rPr lang="en-US" sz="1000" dirty="0" err="1">
                <a:latin typeface="Montserrat ExtraLight" panose="00000300000000000000" pitchFamily="50" charset="-52"/>
              </a:rPr>
              <a:t>BurpSutie</a:t>
            </a:r>
            <a:r>
              <a:rPr lang="ru-RU" sz="1000" dirty="0">
                <a:latin typeface="Montserrat ExtraLight" panose="00000300000000000000" pitchFamily="50" charset="-52"/>
              </a:rPr>
              <a:t>» </a:t>
            </a:r>
            <a:r>
              <a:rPr lang="ru-RU" sz="1000" dirty="0" smtClean="0">
                <a:latin typeface="Montserrat ExtraLight" panose="00000300000000000000" pitchFamily="50" charset="-52"/>
              </a:rPr>
              <a:t>.Переходим </a:t>
            </a:r>
            <a:r>
              <a:rPr lang="ru-RU" sz="1000" dirty="0">
                <a:latin typeface="Montserrat ExtraLight" panose="00000300000000000000" pitchFamily="50" charset="-52"/>
              </a:rPr>
              <a:t>на вкладку «</a:t>
            </a:r>
            <a:r>
              <a:rPr lang="en-US" sz="1000" dirty="0">
                <a:latin typeface="Montserrat ExtraLight" panose="00000300000000000000" pitchFamily="50" charset="-52"/>
              </a:rPr>
              <a:t>proxy</a:t>
            </a:r>
            <a:r>
              <a:rPr lang="ru-RU" sz="1000" dirty="0" smtClean="0">
                <a:latin typeface="Montserrat ExtraLight" panose="00000300000000000000" pitchFamily="50" charset="-52"/>
              </a:rPr>
              <a:t>» </a:t>
            </a:r>
            <a:r>
              <a:rPr lang="ru-RU" sz="1000" dirty="0">
                <a:latin typeface="Montserrat ExtraLight" panose="00000300000000000000" pitchFamily="50" charset="-52"/>
              </a:rPr>
              <a:t>далее «</a:t>
            </a:r>
            <a:r>
              <a:rPr lang="en-US" sz="1000" dirty="0" smtClean="0">
                <a:latin typeface="Montserrat ExtraLight" panose="00000300000000000000" pitchFamily="50" charset="-52"/>
              </a:rPr>
              <a:t>intercept</a:t>
            </a: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r>
              <a:rPr lang="en-US" sz="1000" dirty="0">
                <a:latin typeface="Montserrat ExtraLight" panose="00000300000000000000" pitchFamily="50" charset="-52"/>
              </a:rPr>
              <a:t>in</a:t>
            </a:r>
            <a:r>
              <a:rPr lang="ru-RU" sz="1000" dirty="0">
                <a:latin typeface="Montserrat ExtraLight" panose="00000300000000000000" pitchFamily="50" charset="-52"/>
              </a:rPr>
              <a:t>»</a:t>
            </a:r>
            <a:r>
              <a:rPr lang="en-US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>
                <a:latin typeface="Montserrat ExtraLight" panose="00000300000000000000" pitchFamily="50" charset="-52"/>
              </a:rPr>
              <a:t> и активируем </a:t>
            </a:r>
            <a:r>
              <a:rPr lang="ru-RU" sz="1000" dirty="0" smtClean="0">
                <a:latin typeface="Montserrat ExtraLight" panose="00000300000000000000" pitchFamily="50" charset="-52"/>
              </a:rPr>
              <a:t>( это статический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процес</a:t>
            </a:r>
            <a:r>
              <a:rPr lang="ru-RU" sz="1000" dirty="0" smtClean="0">
                <a:latin typeface="Montserrat ExtraLight" panose="00000300000000000000" pitchFamily="50" charset="-52"/>
              </a:rPr>
              <a:t> перехвата запросов между клиентской частью и сервером, далее будем использовать термин «перехват запроса» </a:t>
            </a:r>
            <a:endParaRPr lang="ru-RU" sz="1000" dirty="0">
              <a:latin typeface="Montserrat ExtraLight" panose="00000300000000000000" pitchFamily="50" charset="-52"/>
            </a:endParaRPr>
          </a:p>
          <a:p>
            <a:endParaRPr lang="ru-RU" sz="1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2" y="1233007"/>
            <a:ext cx="6183516" cy="129123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16872" y="2325821"/>
            <a:ext cx="61835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Montserrat ExtraLight" panose="00000300000000000000" pitchFamily="50" charset="-52"/>
              </a:rPr>
              <a:t>далее ,открываем </a:t>
            </a:r>
            <a:r>
              <a:rPr lang="ru-RU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dirty="0">
                <a:latin typeface="Montserrat ExtraLight" panose="00000300000000000000" pitchFamily="50" charset="-52"/>
                <a:hlinkClick r:id="rId2"/>
              </a:rPr>
              <a:t>https://demo.owasp-juice.shop/#/privacy-security/change-password</a:t>
            </a:r>
            <a:r>
              <a:rPr lang="ru-RU" sz="1000" dirty="0" smtClean="0">
                <a:latin typeface="Montserrat ExtraLight" panose="00000300000000000000" pitchFamily="50" charset="-52"/>
              </a:rPr>
              <a:t>» </a:t>
            </a:r>
            <a:r>
              <a:rPr lang="ru-RU" sz="1000" dirty="0">
                <a:latin typeface="Montserrat ExtraLight" panose="00000300000000000000" pitchFamily="50" charset="-52"/>
              </a:rPr>
              <a:t>вводим в графу </a:t>
            </a:r>
            <a:r>
              <a:rPr lang="ru-RU" sz="1000" dirty="0" smtClean="0">
                <a:latin typeface="Montserrat ExtraLight" panose="00000300000000000000" pitchFamily="50" charset="-52"/>
              </a:rPr>
              <a:t>старый пароль </a:t>
            </a:r>
            <a:r>
              <a:rPr lang="ru-RU" sz="1000" dirty="0">
                <a:latin typeface="Montserrat ExtraLight" panose="00000300000000000000" pitchFamily="50" charset="-52"/>
              </a:rPr>
              <a:t>« любое значение» , а в две остальные поля вводим - новый пароль » Нажимаем </a:t>
            </a:r>
            <a:r>
              <a:rPr lang="ru-RU" sz="1000" dirty="0" smtClean="0">
                <a:latin typeface="Montserrat ExtraLight" panose="00000300000000000000" pitchFamily="50" charset="-52"/>
              </a:rPr>
              <a:t>кнопку подтвердить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47837" y="5710879"/>
            <a:ext cx="62525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Возвращаемся </a:t>
            </a:r>
            <a:r>
              <a:rPr lang="ru-RU" sz="1000" dirty="0">
                <a:latin typeface="Montserrat ExtraLight" panose="00000300000000000000" pitchFamily="50" charset="-52"/>
              </a:rPr>
              <a:t>в </a:t>
            </a:r>
            <a:r>
              <a:rPr lang="ru-RU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dirty="0" err="1">
                <a:latin typeface="Montserrat ExtraLight" panose="00000300000000000000" pitchFamily="50" charset="-52"/>
              </a:rPr>
              <a:t>BurpSutie</a:t>
            </a:r>
            <a:r>
              <a:rPr lang="ru-RU" sz="1000" dirty="0" smtClean="0">
                <a:latin typeface="Montserrat ExtraLight" panose="00000300000000000000" pitchFamily="50" charset="-52"/>
              </a:rPr>
              <a:t>» </a:t>
            </a:r>
            <a:r>
              <a:rPr lang="ru-RU" sz="1000" dirty="0">
                <a:latin typeface="Montserrat ExtraLight" panose="00000300000000000000" pitchFamily="50" charset="-52"/>
              </a:rPr>
              <a:t>отправляем запрос в </a:t>
            </a:r>
            <a:r>
              <a:rPr lang="ru-RU" sz="1000" dirty="0" smtClean="0">
                <a:latin typeface="Montserrat ExtraLight" panose="00000300000000000000" pitchFamily="50" charset="-52"/>
              </a:rPr>
              <a:t>репитер, в самом Репитере Выделяем </a:t>
            </a:r>
            <a:r>
              <a:rPr lang="ru-RU" sz="1000" dirty="0">
                <a:latin typeface="Montserrat ExtraLight" panose="00000300000000000000" pitchFamily="50" charset="-52"/>
              </a:rPr>
              <a:t>значение </a:t>
            </a:r>
            <a:r>
              <a:rPr lang="ru-RU" sz="1000" dirty="0" smtClean="0">
                <a:latin typeface="Montserrat ExtraLight" panose="00000300000000000000" pitchFamily="50" charset="-52"/>
              </a:rPr>
              <a:t> в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нвшем</a:t>
            </a:r>
            <a:r>
              <a:rPr lang="ru-RU" sz="1000" dirty="0" smtClean="0">
                <a:latin typeface="Montserrat ExtraLight" panose="00000300000000000000" pitchFamily="50" charset="-52"/>
              </a:rPr>
              <a:t> случае «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matinam</a:t>
            </a:r>
            <a:r>
              <a:rPr lang="ru-RU" sz="1000" dirty="0" smtClean="0">
                <a:latin typeface="Montserrat ExtraLight" panose="00000300000000000000" pitchFamily="50" charset="-52"/>
              </a:rPr>
              <a:t>»</a:t>
            </a:r>
            <a:endParaRPr lang="ru-RU" sz="10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25" y="2879819"/>
            <a:ext cx="5650175" cy="275887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316873" y="9051407"/>
            <a:ext cx="618351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latin typeface="Montserrat ExtraLight" panose="00000300000000000000" pitchFamily="50" charset="-52"/>
              </a:rPr>
              <a:t>Переходим в 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сервис </a:t>
            </a:r>
            <a:r>
              <a:rPr lang="ru-RU" sz="1000" b="1" dirty="0" err="1">
                <a:latin typeface="Montserrat ExtraLight" panose="00000300000000000000" pitchFamily="50" charset="-52"/>
              </a:rPr>
              <a:t>определние</a:t>
            </a:r>
            <a:r>
              <a:rPr lang="ru-RU" sz="1000" b="1" dirty="0">
                <a:latin typeface="Montserrat ExtraLight" panose="00000300000000000000" pitchFamily="50" charset="-52"/>
              </a:rPr>
              <a:t> </a:t>
            </a:r>
            <a:r>
              <a:rPr lang="ru-RU" sz="1000" b="1" dirty="0" err="1" smtClean="0">
                <a:latin typeface="Montserrat ExtraLight" panose="00000300000000000000" pitchFamily="50" charset="-52"/>
              </a:rPr>
              <a:t>хеша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 (</a:t>
            </a:r>
            <a:r>
              <a:rPr lang="en-US" sz="1000" b="1" dirty="0">
                <a:latin typeface="Montserrat ExtraLight" panose="00000300000000000000" pitchFamily="50" charset="-52"/>
              </a:rPr>
              <a:t>https://hashes.com/ru/tools/hash_identifier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)и </a:t>
            </a:r>
            <a:r>
              <a:rPr lang="ru-RU" sz="1000" b="1" dirty="0" err="1">
                <a:latin typeface="Montserrat ExtraLight" panose="00000300000000000000" pitchFamily="50" charset="-52"/>
              </a:rPr>
              <a:t>доовлем</a:t>
            </a:r>
            <a:r>
              <a:rPr lang="ru-RU" sz="1000" b="1" dirty="0">
                <a:latin typeface="Montserrat ExtraLight" panose="00000300000000000000" pitchFamily="50" charset="-52"/>
              </a:rPr>
              <a:t> туда 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значение </a:t>
            </a:r>
            <a:r>
              <a:rPr lang="ru-RU" sz="1000" b="1" dirty="0" err="1" smtClean="0">
                <a:latin typeface="Montserrat ExtraLight" panose="00000300000000000000" pitchFamily="50" charset="-52"/>
              </a:rPr>
              <a:t>хеша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. Добавив значение </a:t>
            </a:r>
            <a:r>
              <a:rPr lang="ru-RU" sz="1000" b="1" dirty="0" err="1" smtClean="0">
                <a:latin typeface="Montserrat ExtraLight" panose="00000300000000000000" pitchFamily="50" charset="-52"/>
              </a:rPr>
              <a:t>хеша</a:t>
            </a:r>
            <a:r>
              <a:rPr lang="en-US" sz="1000" b="1" dirty="0" smtClean="0">
                <a:latin typeface="Montserrat ExtraLight" panose="00000300000000000000" pitchFamily="50" charset="-52"/>
              </a:rPr>
              <a:t>,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 становится понятно что формат хеширования </a:t>
            </a:r>
            <a:r>
              <a:rPr lang="en-US" sz="1000" b="1" dirty="0" smtClean="0">
                <a:latin typeface="Montserrat ExtraLight" panose="00000300000000000000" pitchFamily="50" charset="-52"/>
              </a:rPr>
              <a:t>md5.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2" y="6110989"/>
            <a:ext cx="6183515" cy="2925366"/>
          </a:xfrm>
          <a:prstGeom prst="rect">
            <a:avLst/>
          </a:prstGeom>
        </p:spPr>
      </p:pic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38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18" y="787529"/>
            <a:ext cx="5657351" cy="86018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24" y="4121084"/>
            <a:ext cx="6252550" cy="306474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11624" y="387419"/>
            <a:ext cx="64879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 smtClean="0">
                <a:latin typeface="Montserrat ExtraLight" panose="00000300000000000000" pitchFamily="50" charset="-52"/>
              </a:rPr>
              <a:t>Переходим в «</a:t>
            </a:r>
            <a:r>
              <a:rPr lang="en-US" sz="1000" b="1" dirty="0" err="1" smtClean="0">
                <a:latin typeface="Montserrat ExtraLight" panose="00000300000000000000" pitchFamily="50" charset="-52"/>
              </a:rPr>
              <a:t>Repiter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» и добавляем полученное значение в поле как на скриншоте. И отправляем запрос  </a:t>
            </a:r>
            <a:endParaRPr lang="ru-RU" sz="1000" b="1" dirty="0">
              <a:latin typeface="Montserrat ExtraLight" panose="00000300000000000000" pitchFamily="50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1624" y="1647711"/>
            <a:ext cx="64879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 smtClean="0">
                <a:latin typeface="Montserrat ExtraLight" panose="00000300000000000000" pitchFamily="50" charset="-52"/>
              </a:rPr>
              <a:t>Все </a:t>
            </a:r>
            <a:r>
              <a:rPr lang="ru-RU" sz="1000" b="1" dirty="0">
                <a:latin typeface="Montserrat ExtraLight" panose="00000300000000000000" pitchFamily="50" charset="-52"/>
              </a:rPr>
              <a:t>з</a:t>
            </a:r>
            <a:r>
              <a:rPr lang="ru-RU" sz="1000" b="1" dirty="0" smtClean="0">
                <a:latin typeface="Montserrat ExtraLight" panose="00000300000000000000" pitchFamily="50" charset="-52"/>
              </a:rPr>
              <a:t>адача выполнена пароль изменен. </a:t>
            </a:r>
            <a:endParaRPr lang="ru-RU" sz="1000" b="1" dirty="0">
              <a:latin typeface="Montserrat ExtraLight" panose="00000300000000000000" pitchFamily="50" charset="-52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53"/>
          <a:stretch/>
        </p:blipFill>
        <p:spPr>
          <a:xfrm>
            <a:off x="371463" y="1893932"/>
            <a:ext cx="5504236" cy="2227152"/>
          </a:xfrm>
          <a:prstGeom prst="rect">
            <a:avLst/>
          </a:prstGeom>
        </p:spPr>
      </p:pic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62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3520" y="228217"/>
            <a:ext cx="646983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000" dirty="0" smtClean="0">
                <a:latin typeface="Montserrat ExtraLight" panose="00000300000000000000" pitchFamily="50" charset="-52"/>
              </a:rPr>
              <a:t>7)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Запускаем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>
                <a:latin typeface="Montserrat ExtraLight" panose="00000300000000000000" pitchFamily="50" charset="-52"/>
              </a:rPr>
              <a:t>сканет</a:t>
            </a:r>
            <a:r>
              <a:rPr lang="uk-UA" sz="1000" dirty="0">
                <a:latin typeface="Montserrat ExtraLight" panose="00000300000000000000" pitchFamily="50" charset="-52"/>
              </a:rPr>
              <a:t> </a:t>
            </a:r>
            <a:r>
              <a:rPr lang="uk-UA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dirty="0" smtClean="0">
                <a:latin typeface="Montserrat ExtraLight" panose="00000300000000000000" pitchFamily="50" charset="-52"/>
              </a:rPr>
              <a:t>FFUF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uk-UA" sz="1000" dirty="0" err="1">
                <a:latin typeface="Montserrat ExtraLight" panose="00000300000000000000" pitchFamily="50" charset="-52"/>
              </a:rPr>
              <a:t>получаем</a:t>
            </a:r>
            <a:r>
              <a:rPr lang="uk-UA" sz="1000" dirty="0">
                <a:latin typeface="Montserrat ExtraLight" panose="00000300000000000000" pitchFamily="50" charset="-52"/>
              </a:rPr>
              <a:t> </a:t>
            </a:r>
            <a:r>
              <a:rPr lang="uk-UA" sz="1000" dirty="0" err="1">
                <a:latin typeface="Montserrat ExtraLight" panose="00000300000000000000" pitchFamily="50" charset="-52"/>
              </a:rPr>
              <a:t>перечен</a:t>
            </a:r>
            <a:r>
              <a:rPr lang="uk-UA" sz="1000" dirty="0">
                <a:latin typeface="Montserrat ExtraLight" panose="00000300000000000000" pitchFamily="50" charset="-52"/>
              </a:rPr>
              <a:t> </a:t>
            </a:r>
            <a:r>
              <a:rPr lang="uk-UA" sz="1000" dirty="0" err="1">
                <a:latin typeface="Montserrat ExtraLight" panose="00000300000000000000" pitchFamily="50" charset="-52"/>
              </a:rPr>
              <a:t>отсканированых</a:t>
            </a:r>
            <a:r>
              <a:rPr lang="uk-UA" sz="1000" dirty="0">
                <a:latin typeface="Montserrat ExtraLight" panose="00000300000000000000" pitchFamily="50" charset="-52"/>
              </a:rPr>
              <a:t> </a:t>
            </a:r>
            <a:r>
              <a:rPr lang="uk-UA" sz="1000" dirty="0" err="1">
                <a:latin typeface="Montserrat ExtraLight" panose="00000300000000000000" pitchFamily="50" charset="-52"/>
              </a:rPr>
              <a:t>дерикторий</a:t>
            </a:r>
            <a:r>
              <a:rPr lang="uk-UA" sz="1000" dirty="0">
                <a:latin typeface="Montserrat ExtraLight" panose="00000300000000000000" pitchFamily="50" charset="-52"/>
              </a:rPr>
              <a:t> и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файлов</a:t>
            </a:r>
            <a:r>
              <a:rPr lang="en-US" sz="1000" dirty="0">
                <a:latin typeface="Montserrat ExtraLight" panose="00000300000000000000" pitchFamily="50" charset="-52"/>
              </a:rPr>
              <a:t>.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endParaRPr lang="uk-UA" sz="1000" dirty="0">
              <a:latin typeface="Montserrat ExtraLight" panose="00000300000000000000" pitchFamily="50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83520" y="474438"/>
            <a:ext cx="64698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000" dirty="0" smtClean="0">
                <a:latin typeface="Montserrat ExtraLight" panose="00000300000000000000" pitchFamily="50" charset="-52"/>
              </a:rPr>
              <a:t>8)Переходим </a:t>
            </a:r>
            <a:r>
              <a:rPr lang="uk-UA" sz="1000" dirty="0">
                <a:latin typeface="Montserrat ExtraLight" panose="00000300000000000000" pitchFamily="50" charset="-52"/>
              </a:rPr>
              <a:t>по </a:t>
            </a:r>
            <a:r>
              <a:rPr lang="uk-UA" sz="1000" dirty="0" err="1">
                <a:latin typeface="Montserrat ExtraLight" panose="00000300000000000000" pitchFamily="50" charset="-52"/>
              </a:rPr>
              <a:t>ссылке</a:t>
            </a:r>
            <a:r>
              <a:rPr lang="uk-UA" sz="1000" dirty="0">
                <a:latin typeface="Montserrat ExtraLight" panose="00000300000000000000" pitchFamily="50" charset="-52"/>
              </a:rPr>
              <a:t> </a:t>
            </a:r>
            <a:r>
              <a:rPr lang="uk-UA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dirty="0">
                <a:latin typeface="Montserrat ExtraLight" panose="00000300000000000000" pitchFamily="50" charset="-52"/>
              </a:rPr>
              <a:t>https://</a:t>
            </a:r>
            <a:r>
              <a:rPr lang="en-US" sz="1000" dirty="0" smtClean="0">
                <a:latin typeface="Montserrat ExtraLight" panose="00000300000000000000" pitchFamily="50" charset="-52"/>
              </a:rPr>
              <a:t>demo.owasp-juice.shop/support/log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uk-UA" sz="1000" dirty="0">
                <a:latin typeface="Montserrat ExtraLight" panose="00000300000000000000" pitchFamily="50" charset="-52"/>
              </a:rPr>
              <a:t>и видим файл </a:t>
            </a:r>
            <a:r>
              <a:rPr lang="uk-UA" sz="1000" dirty="0" err="1">
                <a:latin typeface="Montserrat ExtraLight" panose="00000300000000000000" pitchFamily="50" charset="-52"/>
              </a:rPr>
              <a:t>открываем</a:t>
            </a:r>
            <a:r>
              <a:rPr lang="uk-UA" sz="1000" dirty="0">
                <a:latin typeface="Montserrat ExtraLight" panose="00000300000000000000" pitchFamily="50" charset="-52"/>
              </a:rPr>
              <a:t> </a:t>
            </a:r>
            <a:r>
              <a:rPr lang="uk-UA" sz="1000" dirty="0" smtClean="0">
                <a:latin typeface="Montserrat ExtraLight" panose="00000300000000000000" pitchFamily="50" charset="-52"/>
              </a:rPr>
              <a:t>его через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дополнительную</a:t>
            </a:r>
            <a:r>
              <a:rPr lang="uk-UA" sz="1000" dirty="0" smtClean="0">
                <a:latin typeface="Montserrat ExtraLight" panose="00000300000000000000" pitchFamily="50" charset="-52"/>
              </a:rPr>
              <a:t> команду «</a:t>
            </a:r>
            <a:r>
              <a:rPr lang="en-US" sz="1000" dirty="0">
                <a:latin typeface="Montserrat ExtraLight" panose="00000300000000000000" pitchFamily="50" charset="-52"/>
              </a:rPr>
              <a:t>https://</a:t>
            </a:r>
            <a:r>
              <a:rPr lang="en-US" sz="1000" dirty="0" smtClean="0">
                <a:latin typeface="Montserrat ExtraLight" panose="00000300000000000000" pitchFamily="50" charset="-52"/>
              </a:rPr>
              <a:t>demo.owasp-juice.shop/support/log/access.log.2023-07-14%25%30%30.md</a:t>
            </a:r>
            <a:r>
              <a:rPr lang="uk-UA" sz="1000" dirty="0" smtClean="0">
                <a:latin typeface="Montserrat ExtraLight" panose="00000300000000000000" pitchFamily="50" charset="-52"/>
              </a:rPr>
              <a:t>»</a:t>
            </a: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20" y="1003073"/>
            <a:ext cx="6381203" cy="329529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83521" y="4352836"/>
            <a:ext cx="638120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Получен файл с логами всех пользователей </a:t>
            </a:r>
            <a:endParaRPr lang="uk-UA" sz="1000" dirty="0">
              <a:latin typeface="Montserrat ExtraLight" panose="00000300000000000000" pitchFamily="50" charset="-52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83521" y="4599057"/>
            <a:ext cx="63812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000" dirty="0" smtClean="0">
                <a:latin typeface="Montserrat ExtraLight" panose="00000300000000000000" pitchFamily="50" charset="-52"/>
              </a:rPr>
              <a:t>9))Переходим </a:t>
            </a:r>
            <a:r>
              <a:rPr lang="uk-UA" sz="1000" dirty="0">
                <a:latin typeface="Montserrat ExtraLight" panose="00000300000000000000" pitchFamily="50" charset="-52"/>
              </a:rPr>
              <a:t>по </a:t>
            </a:r>
            <a:r>
              <a:rPr lang="uk-UA" sz="1000" dirty="0" err="1">
                <a:latin typeface="Montserrat ExtraLight" panose="00000300000000000000" pitchFamily="50" charset="-52"/>
              </a:rPr>
              <a:t>ссылке</a:t>
            </a:r>
            <a:r>
              <a:rPr lang="uk-UA" sz="1000" dirty="0">
                <a:latin typeface="Montserrat ExtraLight" panose="00000300000000000000" pitchFamily="50" charset="-52"/>
              </a:rPr>
              <a:t> «</a:t>
            </a:r>
            <a:r>
              <a:rPr lang="en-US" sz="1000" dirty="0">
                <a:latin typeface="Montserrat ExtraLight" panose="00000300000000000000" pitchFamily="50" charset="-52"/>
              </a:rPr>
              <a:t>https://</a:t>
            </a:r>
            <a:r>
              <a:rPr lang="en-US" sz="1000" dirty="0" smtClean="0">
                <a:latin typeface="Montserrat ExtraLight" panose="00000300000000000000" pitchFamily="50" charset="-52"/>
              </a:rPr>
              <a:t>demo.owasp-juice.shop/ftp/acquisitions.md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uk-UA" sz="1000" dirty="0">
                <a:latin typeface="Montserrat ExtraLight" panose="00000300000000000000" pitchFamily="50" charset="-52"/>
              </a:rPr>
              <a:t>и видим </a:t>
            </a:r>
            <a:r>
              <a:rPr lang="uk-UA" sz="1000" dirty="0" smtClean="0">
                <a:latin typeface="Montserrat ExtraLight" panose="00000300000000000000" pitchFamily="50" charset="-52"/>
              </a:rPr>
              <a:t>файл с 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конфиденциальной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информацией</a:t>
            </a:r>
            <a:r>
              <a:rPr lang="uk-UA" sz="1000" dirty="0" smtClean="0">
                <a:latin typeface="Montserrat ExtraLight" panose="00000300000000000000" pitchFamily="50" charset="-52"/>
              </a:rPr>
              <a:t>.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17"/>
          <a:stretch/>
        </p:blipFill>
        <p:spPr>
          <a:xfrm>
            <a:off x="183519" y="4999167"/>
            <a:ext cx="6381203" cy="1896933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83519" y="6896100"/>
            <a:ext cx="6664309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Montserrat ExtraLight" panose="00000300000000000000" pitchFamily="50" charset="-52"/>
              </a:rPr>
              <a:t>10)По точно такому же принципу переходим по ссылке «</a:t>
            </a:r>
            <a:r>
              <a:rPr lang="en-US" sz="1050" dirty="0">
                <a:latin typeface="Montserrat ExtraLight" panose="00000300000000000000" pitchFamily="50" charset="-52"/>
              </a:rPr>
              <a:t>https://</a:t>
            </a:r>
            <a:r>
              <a:rPr lang="en-US" sz="1050" dirty="0" smtClean="0">
                <a:latin typeface="Montserrat ExtraLight" panose="00000300000000000000" pitchFamily="50" charset="-52"/>
              </a:rPr>
              <a:t>demo.owasp-juice.shop/ftp/package.json</a:t>
            </a:r>
            <a:r>
              <a:rPr lang="ru-RU" sz="1050" dirty="0" smtClean="0">
                <a:latin typeface="Montserrat ExtraLight" panose="00000300000000000000" pitchFamily="50" charset="-52"/>
              </a:rPr>
              <a:t>» полученной путем сканирования через «</a:t>
            </a:r>
            <a:r>
              <a:rPr lang="en-US" sz="1050" dirty="0" smtClean="0">
                <a:latin typeface="Montserrat ExtraLight" panose="00000300000000000000" pitchFamily="50" charset="-52"/>
              </a:rPr>
              <a:t>FFUF</a:t>
            </a:r>
            <a:r>
              <a:rPr lang="ru-RU" sz="1050" dirty="0" smtClean="0">
                <a:latin typeface="Montserrat ExtraLight" panose="00000300000000000000" pitchFamily="50" charset="-52"/>
              </a:rPr>
              <a:t>»  и  «</a:t>
            </a:r>
            <a:r>
              <a:rPr lang="en-US" sz="1050" dirty="0" err="1" smtClean="0">
                <a:latin typeface="Montserrat ExtraLight" panose="00000300000000000000" pitchFamily="50" charset="-52"/>
              </a:rPr>
              <a:t>dirb</a:t>
            </a:r>
            <a:r>
              <a:rPr lang="ru-RU" sz="1050" dirty="0" smtClean="0">
                <a:latin typeface="Montserrat ExtraLight" panose="00000300000000000000" pitchFamily="50" charset="-52"/>
              </a:rPr>
              <a:t>». </a:t>
            </a:r>
          </a:p>
          <a:p>
            <a:r>
              <a:rPr lang="ru-RU" sz="1050" dirty="0" smtClean="0">
                <a:latin typeface="Montserrat ExtraLight" panose="00000300000000000000" pitchFamily="50" charset="-52"/>
              </a:rPr>
              <a:t>Сразу файл открыть не получится, добавляем к ссылке следующие значения «</a:t>
            </a:r>
            <a:r>
              <a:rPr lang="en-US" sz="1050" dirty="0" smtClean="0">
                <a:latin typeface="Montserrat ExtraLight" panose="00000300000000000000" pitchFamily="50" charset="-52"/>
              </a:rPr>
              <a:t>%25%30%30.md</a:t>
            </a:r>
            <a:r>
              <a:rPr lang="ru-RU" sz="1050" dirty="0" smtClean="0">
                <a:latin typeface="Montserrat ExtraLight" panose="00000300000000000000" pitchFamily="50" charset="-52"/>
              </a:rPr>
              <a:t>» и ссылка на выходе у нас получается следующая «</a:t>
            </a:r>
            <a:r>
              <a:rPr lang="en-US" sz="1050" dirty="0">
                <a:latin typeface="Montserrat ExtraLight" panose="00000300000000000000" pitchFamily="50" charset="-52"/>
              </a:rPr>
              <a:t>https://</a:t>
            </a:r>
            <a:r>
              <a:rPr lang="en-US" sz="1050" dirty="0" smtClean="0">
                <a:latin typeface="Montserrat ExtraLight" panose="00000300000000000000" pitchFamily="50" charset="-52"/>
              </a:rPr>
              <a:t>demo.owasp-juice.shop/ftp/package.json%25%30%30.md</a:t>
            </a:r>
            <a:r>
              <a:rPr lang="ru-RU" sz="1050" dirty="0" smtClean="0">
                <a:latin typeface="Montserrat ExtraLight" panose="00000300000000000000" pitchFamily="50" charset="-52"/>
              </a:rPr>
              <a:t>»</a:t>
            </a:r>
            <a:endParaRPr lang="ru-RU" sz="1050" dirty="0">
              <a:latin typeface="Montserrat ExtraLight" panose="00000300000000000000" pitchFamily="50" charset="-52"/>
            </a:endParaRP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719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90500" y="323850"/>
            <a:ext cx="634365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11)Переходим </a:t>
            </a:r>
            <a:r>
              <a:rPr lang="ru-RU" sz="1000" dirty="0">
                <a:latin typeface="Montserrat ExtraLight" panose="00000300000000000000" pitchFamily="50" charset="-52"/>
              </a:rPr>
              <a:t>по ссылке «</a:t>
            </a:r>
            <a:r>
              <a:rPr lang="en-US" sz="1000" dirty="0">
                <a:latin typeface="Montserrat ExtraLight" panose="00000300000000000000" pitchFamily="50" charset="-52"/>
              </a:rPr>
              <a:t>https://demo.owasp-juice.shop</a:t>
            </a:r>
            <a:r>
              <a:rPr lang="en-US" sz="1000" dirty="0" smtClean="0">
                <a:latin typeface="Montserrat ExtraLight" panose="00000300000000000000" pitchFamily="50" charset="-52"/>
              </a:rPr>
              <a:t>/  </a:t>
            </a:r>
            <a:r>
              <a:rPr lang="ru-RU" sz="1000" dirty="0" smtClean="0">
                <a:latin typeface="Montserrat ExtraLight" panose="00000300000000000000" pitchFamily="50" charset="-52"/>
              </a:rPr>
              <a:t>» выполняем </a:t>
            </a:r>
            <a:r>
              <a:rPr lang="ru-RU" sz="1000" dirty="0">
                <a:latin typeface="Montserrat ExtraLight" panose="00000300000000000000" pitchFamily="50" charset="-52"/>
              </a:rPr>
              <a:t>поиск «</a:t>
            </a:r>
            <a:r>
              <a:rPr lang="en-US" sz="1000" dirty="0">
                <a:latin typeface="Montserrat ExtraLight" panose="00000300000000000000" pitchFamily="50" charset="-52"/>
              </a:rPr>
              <a:t>apple</a:t>
            </a:r>
            <a:r>
              <a:rPr lang="ru-RU" sz="1000" dirty="0">
                <a:latin typeface="Montserrat ExtraLight" panose="00000300000000000000" pitchFamily="50" charset="-52"/>
              </a:rPr>
              <a:t> » и отставляем отзыв о товаре «</a:t>
            </a:r>
            <a:r>
              <a:rPr lang="en-US" sz="1000" dirty="0" err="1">
                <a:latin typeface="Montserrat ExtraLight" panose="00000300000000000000" pitchFamily="50" charset="-52"/>
              </a:rPr>
              <a:t>DmitryPavlov_good_teacher</a:t>
            </a:r>
            <a:r>
              <a:rPr lang="ru-RU" sz="1000" dirty="0">
                <a:latin typeface="Montserrat ExtraLight" panose="00000300000000000000" pitchFamily="50" charset="-52"/>
              </a:rPr>
              <a:t>»  открываем инструмент «</a:t>
            </a:r>
            <a:r>
              <a:rPr lang="en-US" sz="1000" dirty="0" err="1">
                <a:latin typeface="Montserrat ExtraLight" panose="00000300000000000000" pitchFamily="50" charset="-52"/>
              </a:rPr>
              <a:t>BurpSute</a:t>
            </a:r>
            <a:r>
              <a:rPr lang="ru-RU" sz="1000" dirty="0">
                <a:latin typeface="Montserrat ExtraLight" panose="00000300000000000000" pitchFamily="50" charset="-52"/>
              </a:rPr>
              <a:t>» выполняем процесс перехвата запроса через «</a:t>
            </a:r>
            <a:r>
              <a:rPr lang="en-US" sz="1000" dirty="0">
                <a:latin typeface="Montserrat ExtraLight" panose="00000300000000000000" pitchFamily="50" charset="-52"/>
              </a:rPr>
              <a:t>Proxy&gt;Intercept</a:t>
            </a:r>
            <a:r>
              <a:rPr lang="ru-RU" sz="1000" dirty="0">
                <a:latin typeface="Montserrat ExtraLight" panose="00000300000000000000" pitchFamily="50" charset="-52"/>
              </a:rPr>
              <a:t>» отправляем запрос в «</a:t>
            </a:r>
            <a:r>
              <a:rPr lang="en-US" sz="1000" dirty="0" err="1">
                <a:latin typeface="Montserrat ExtraLight" panose="00000300000000000000" pitchFamily="50" charset="-52"/>
              </a:rPr>
              <a:t>Repiter</a:t>
            </a:r>
            <a:r>
              <a:rPr lang="ru-RU" sz="1000" dirty="0">
                <a:latin typeface="Montserrat ExtraLight" panose="00000300000000000000" pitchFamily="50" charset="-52"/>
              </a:rPr>
              <a:t>», в самом запросе замещаем «</a:t>
            </a:r>
            <a:r>
              <a:rPr lang="en-US" sz="1000" dirty="0">
                <a:latin typeface="Montserrat ExtraLight" panose="00000300000000000000" pitchFamily="50" charset="-52"/>
              </a:rPr>
              <a:t>"message":"</a:t>
            </a:r>
            <a:r>
              <a:rPr lang="en-US" sz="1000" dirty="0" err="1">
                <a:latin typeface="Montserrat ExtraLight" panose="00000300000000000000" pitchFamily="50" charset="-52"/>
              </a:rPr>
              <a:t>dsadasdsdadas</a:t>
            </a:r>
            <a:r>
              <a:rPr lang="en-US" sz="1000" dirty="0">
                <a:latin typeface="Montserrat ExtraLight" panose="00000300000000000000" pitchFamily="50" charset="-52"/>
              </a:rPr>
              <a:t>",«“author</a:t>
            </a:r>
            <a:r>
              <a:rPr lang="en-US" sz="1000" dirty="0" smtClean="0">
                <a:latin typeface="Montserrat ExtraLight" panose="00000300000000000000" pitchFamily="50" charset="-52"/>
              </a:rPr>
              <a:t>”:"</a:t>
            </a:r>
            <a:r>
              <a:rPr lang="en-US" sz="1000" dirty="0" err="1">
                <a:latin typeface="Montserrat ExtraLight" panose="00000300000000000000" pitchFamily="50" charset="-52"/>
              </a:rPr>
              <a:t>admin@juice-sh.op</a:t>
            </a:r>
            <a:r>
              <a:rPr lang="en-US" sz="1000" dirty="0">
                <a:latin typeface="Montserrat ExtraLight" panose="00000300000000000000" pitchFamily="50" charset="-52"/>
              </a:rPr>
              <a:t>"</a:t>
            </a:r>
            <a:r>
              <a:rPr lang="ru-RU" sz="1000" dirty="0">
                <a:latin typeface="Montserrat ExtraLight" panose="00000300000000000000" pitchFamily="50" charset="-52"/>
              </a:rPr>
              <a:t>» на «</a:t>
            </a:r>
            <a:r>
              <a:rPr lang="en-US" sz="1000" dirty="0">
                <a:latin typeface="Montserrat ExtraLight" panose="00000300000000000000" pitchFamily="50" charset="-52"/>
              </a:rPr>
              <a:t>{"</a:t>
            </a:r>
            <a:r>
              <a:rPr lang="en-US" sz="1000" dirty="0" err="1">
                <a:latin typeface="Montserrat ExtraLight" panose="00000300000000000000" pitchFamily="50" charset="-52"/>
              </a:rPr>
              <a:t>message":"DmitryPavlov_good_teacher","id</a:t>
            </a:r>
            <a:r>
              <a:rPr lang="en-US" sz="1000" dirty="0">
                <a:latin typeface="Montserrat ExtraLight" panose="00000300000000000000" pitchFamily="50" charset="-52"/>
              </a:rPr>
              <a:t>":{"$ne":-1}}</a:t>
            </a:r>
            <a:r>
              <a:rPr lang="ru-RU" sz="1000" dirty="0">
                <a:latin typeface="Montserrat ExtraLight" panose="00000300000000000000" pitchFamily="50" charset="-52"/>
              </a:rPr>
              <a:t>» и  замещаем «</a:t>
            </a:r>
            <a:r>
              <a:rPr lang="en-US" sz="1000" dirty="0">
                <a:latin typeface="Montserrat ExtraLight" panose="00000300000000000000" pitchFamily="50" charset="-52"/>
              </a:rPr>
              <a:t>POST /rest/products/1/reviews</a:t>
            </a:r>
            <a:r>
              <a:rPr lang="ru-RU" sz="1000" dirty="0">
                <a:latin typeface="Montserrat ExtraLight" panose="00000300000000000000" pitchFamily="50" charset="-52"/>
              </a:rPr>
              <a:t>» на «</a:t>
            </a:r>
            <a:r>
              <a:rPr lang="en-US" sz="1000" dirty="0">
                <a:latin typeface="Montserrat ExtraLight" panose="00000300000000000000" pitchFamily="50" charset="-52"/>
              </a:rPr>
              <a:t>PATCH /rest/products/reviews</a:t>
            </a:r>
            <a:r>
              <a:rPr lang="ru-RU" sz="1000" dirty="0">
                <a:latin typeface="Montserrat ExtraLight" panose="00000300000000000000" pitchFamily="50" charset="-52"/>
              </a:rPr>
              <a:t>» отправляем запрос на сервер обратно.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29753" y="3705519"/>
            <a:ext cx="9236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screenshot1</a:t>
            </a:r>
            <a:endParaRPr lang="ru-RU" sz="1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8" t="88809" r="67525" b="-423"/>
          <a:stretch/>
        </p:blipFill>
        <p:spPr>
          <a:xfrm>
            <a:off x="2865813" y="4715274"/>
            <a:ext cx="3003515" cy="104483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62" y="1493402"/>
            <a:ext cx="2312151" cy="2212117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786986" y="370551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screenshot2</a:t>
            </a:r>
            <a:endParaRPr lang="ru-RU" sz="10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60"/>
          <a:stretch/>
        </p:blipFill>
        <p:spPr>
          <a:xfrm>
            <a:off x="2962275" y="1493401"/>
            <a:ext cx="2716126" cy="221211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07" b="-62"/>
          <a:stretch/>
        </p:blipFill>
        <p:spPr>
          <a:xfrm>
            <a:off x="553662" y="3951738"/>
            <a:ext cx="2312151" cy="2453903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103835" y="6405641"/>
            <a:ext cx="9492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screenshot3</a:t>
            </a:r>
            <a:endParaRPr lang="ru-RU" sz="10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829980" y="6405640"/>
            <a:ext cx="9621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screenshot4</a:t>
            </a:r>
            <a:endParaRPr lang="ru-RU" sz="10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60"/>
          <a:stretch/>
        </p:blipFill>
        <p:spPr>
          <a:xfrm>
            <a:off x="553662" y="6769867"/>
            <a:ext cx="4876800" cy="853840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2667930" y="7626166"/>
            <a:ext cx="9492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screenshot5</a:t>
            </a:r>
            <a:endParaRPr lang="ru-RU" sz="1000" dirty="0"/>
          </a:p>
        </p:txBody>
      </p:sp>
      <p:sp>
        <p:nvSpPr>
          <p:cNvPr id="24" name="Номер слайда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97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122" y="281350"/>
            <a:ext cx="3897140" cy="383885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29383" y="4313858"/>
            <a:ext cx="9492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screenshot5</a:t>
            </a:r>
            <a:endParaRPr lang="ru-RU" sz="1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7283" y="4642629"/>
            <a:ext cx="62740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Montserrat ExtraLight" panose="00000300000000000000" pitchFamily="50" charset="-52"/>
              </a:rPr>
              <a:t>В окне вывода видим полученную </a:t>
            </a:r>
            <a:r>
              <a:rPr lang="ru-RU" sz="1000" dirty="0" smtClean="0">
                <a:latin typeface="Montserrat ExtraLight" panose="00000300000000000000" pitchFamily="50" charset="-52"/>
              </a:rPr>
              <a:t>информацию,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свидетелствует</a:t>
            </a:r>
            <a:r>
              <a:rPr lang="ru-RU" sz="1000" dirty="0" smtClean="0">
                <a:latin typeface="Montserrat ExtraLight" panose="00000300000000000000" pitchFamily="50" charset="-52"/>
              </a:rPr>
              <a:t>  </a:t>
            </a:r>
            <a:r>
              <a:rPr lang="ru-RU" sz="1000" dirty="0">
                <a:latin typeface="Montserrat ExtraLight" panose="00000300000000000000" pitchFamily="50" charset="-52"/>
              </a:rPr>
              <a:t>о том что мы </a:t>
            </a:r>
            <a:r>
              <a:rPr lang="ru-RU" sz="1000" dirty="0" smtClean="0">
                <a:latin typeface="Montserrat ExtraLight" panose="00000300000000000000" pitchFamily="50" charset="-52"/>
              </a:rPr>
              <a:t>успешно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проэксмплуатировалили</a:t>
            </a: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  <a:r>
              <a:rPr lang="ru-RU" sz="1000" dirty="0">
                <a:latin typeface="Montserrat ExtraLight" panose="00000300000000000000" pitchFamily="50" charset="-52"/>
              </a:rPr>
              <a:t>уязвимость и отправили отзыв от всех пользователей.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67006" y="5125289"/>
            <a:ext cx="62740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latin typeface="Montserrat ExtraLight" panose="00000300000000000000" pitchFamily="50" charset="-52"/>
              </a:rPr>
              <a:t>12)Переходим </a:t>
            </a:r>
            <a:r>
              <a:rPr lang="ru-RU" sz="1000" dirty="0">
                <a:latin typeface="Montserrat ExtraLight" panose="00000300000000000000" pitchFamily="50" charset="-52"/>
              </a:rPr>
              <a:t>по ссылке «</a:t>
            </a:r>
            <a:r>
              <a:rPr lang="en-US" sz="1000" dirty="0">
                <a:latin typeface="Montserrat ExtraLight" panose="00000300000000000000" pitchFamily="50" charset="-52"/>
              </a:rPr>
              <a:t>https://demo.owasp-juice.shop</a:t>
            </a:r>
            <a:r>
              <a:rPr lang="ru-RU" sz="1000" dirty="0">
                <a:latin typeface="Montserrat ExtraLight" panose="00000300000000000000" pitchFamily="50" charset="-52"/>
              </a:rPr>
              <a:t>» </a:t>
            </a:r>
            <a:r>
              <a:rPr lang="ru-RU" sz="1000" dirty="0" err="1">
                <a:latin typeface="Montserrat ExtraLight" panose="00000300000000000000" pitchFamily="50" charset="-52"/>
              </a:rPr>
              <a:t>выполнеям</a:t>
            </a:r>
            <a:r>
              <a:rPr lang="ru-RU" sz="1000" dirty="0">
                <a:latin typeface="Montserrat ExtraLight" panose="00000300000000000000" pitchFamily="50" charset="-52"/>
              </a:rPr>
              <a:t> команду поиска «</a:t>
            </a:r>
            <a:r>
              <a:rPr lang="en-US" sz="1000" dirty="0">
                <a:latin typeface="Montserrat ExtraLight" panose="00000300000000000000" pitchFamily="50" charset="-52"/>
              </a:rPr>
              <a:t>apple</a:t>
            </a:r>
            <a:r>
              <a:rPr lang="ru-RU" sz="1000" dirty="0">
                <a:latin typeface="Montserrat ExtraLight" panose="00000300000000000000" pitchFamily="50" charset="-52"/>
              </a:rPr>
              <a:t>» предварительно </a:t>
            </a:r>
            <a:r>
              <a:rPr lang="ru-RU" sz="1000" dirty="0" smtClean="0">
                <a:latin typeface="Montserrat ExtraLight" panose="00000300000000000000" pitchFamily="50" charset="-52"/>
              </a:rPr>
              <a:t>перехватив </a:t>
            </a:r>
            <a:r>
              <a:rPr lang="ru-RU" sz="1000" dirty="0">
                <a:latin typeface="Montserrat ExtraLight" panose="00000300000000000000" pitchFamily="50" charset="-52"/>
              </a:rPr>
              <a:t>запрос через </a:t>
            </a:r>
            <a:r>
              <a:rPr lang="ru-RU" sz="1000" dirty="0" err="1">
                <a:latin typeface="Montserrat ExtraLight" panose="00000300000000000000" pitchFamily="50" charset="-52"/>
              </a:rPr>
              <a:t>через</a:t>
            </a:r>
            <a:r>
              <a:rPr lang="ru-RU" sz="1000" dirty="0">
                <a:latin typeface="Montserrat ExtraLight" panose="00000300000000000000" pitchFamily="50" charset="-52"/>
              </a:rPr>
              <a:t> «</a:t>
            </a:r>
            <a:r>
              <a:rPr lang="en-US" sz="1000" dirty="0">
                <a:latin typeface="Montserrat ExtraLight" panose="00000300000000000000" pitchFamily="50" charset="-52"/>
              </a:rPr>
              <a:t>Proxy&gt;Intercept</a:t>
            </a:r>
            <a:r>
              <a:rPr lang="ru-RU" sz="1000" dirty="0">
                <a:latin typeface="Montserrat ExtraLight" panose="00000300000000000000" pitchFamily="50" charset="-52"/>
              </a:rPr>
              <a:t>» отправляем запрос в «</a:t>
            </a:r>
            <a:r>
              <a:rPr lang="en-US" sz="1000" dirty="0" err="1">
                <a:latin typeface="Montserrat ExtraLight" panose="00000300000000000000" pitchFamily="50" charset="-52"/>
              </a:rPr>
              <a:t>Repiter</a:t>
            </a:r>
            <a:r>
              <a:rPr lang="ru-RU" sz="1000" dirty="0">
                <a:latin typeface="Montserrat ExtraLight" panose="00000300000000000000" pitchFamily="50" charset="-52"/>
              </a:rPr>
              <a:t>», </a:t>
            </a:r>
            <a:r>
              <a:rPr lang="ru-RU" sz="1000" dirty="0" smtClean="0">
                <a:latin typeface="Montserrat ExtraLight" panose="00000300000000000000" pitchFamily="50" charset="-52"/>
              </a:rPr>
              <a:t>меняем значение  :</a:t>
            </a:r>
          </a:p>
          <a:p>
            <a:r>
              <a:rPr lang="ru-RU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dirty="0">
                <a:latin typeface="Montserrat ExtraLight" panose="00000300000000000000" pitchFamily="50" charset="-52"/>
              </a:rPr>
              <a:t>/rest/products/</a:t>
            </a:r>
            <a:r>
              <a:rPr lang="en-US" sz="1000" dirty="0" err="1">
                <a:latin typeface="Montserrat ExtraLight" panose="00000300000000000000" pitchFamily="50" charset="-52"/>
              </a:rPr>
              <a:t>search?q</a:t>
            </a:r>
            <a:r>
              <a:rPr lang="en-US" sz="1000" dirty="0">
                <a:latin typeface="Montserrat ExtraLight" panose="00000300000000000000" pitchFamily="50" charset="-52"/>
              </a:rPr>
              <a:t>=apple</a:t>
            </a:r>
            <a:r>
              <a:rPr lang="ru-RU" sz="1000" dirty="0">
                <a:latin typeface="Montserrat ExtraLight" panose="00000300000000000000" pitchFamily="50" charset="-52"/>
              </a:rPr>
              <a:t>» </a:t>
            </a:r>
            <a:endParaRPr lang="ru-RU" sz="1000" dirty="0" smtClean="0">
              <a:latin typeface="Montserrat ExtraLight" panose="00000300000000000000" pitchFamily="50" charset="-52"/>
            </a:endParaRPr>
          </a:p>
          <a:p>
            <a:r>
              <a:rPr lang="ru-RU" sz="1000" dirty="0" smtClean="0">
                <a:latin typeface="Montserrat ExtraLight" panose="00000300000000000000" pitchFamily="50" charset="-52"/>
              </a:rPr>
              <a:t>на </a:t>
            </a:r>
            <a:r>
              <a:rPr lang="ru-RU" sz="1000" dirty="0">
                <a:latin typeface="Montserrat ExtraLight" panose="00000300000000000000" pitchFamily="50" charset="-52"/>
              </a:rPr>
              <a:t>следующее значение «</a:t>
            </a:r>
            <a:r>
              <a:rPr lang="en-US" sz="1000" dirty="0">
                <a:latin typeface="Montserrat ExtraLight" panose="00000300000000000000" pitchFamily="50" charset="-52"/>
              </a:rPr>
              <a:t>/rest/products/</a:t>
            </a:r>
            <a:r>
              <a:rPr lang="en-US" sz="1000" dirty="0" err="1">
                <a:latin typeface="Montserrat ExtraLight" panose="00000300000000000000" pitchFamily="50" charset="-52"/>
              </a:rPr>
              <a:t>search?q</a:t>
            </a:r>
            <a:r>
              <a:rPr lang="en-US" sz="1000" dirty="0">
                <a:latin typeface="Montserrat ExtraLight" panose="00000300000000000000" pitchFamily="50" charset="-52"/>
              </a:rPr>
              <a:t>=rest/products/</a:t>
            </a:r>
            <a:r>
              <a:rPr lang="en-US" sz="1000" dirty="0" err="1">
                <a:latin typeface="Montserrat ExtraLight" panose="00000300000000000000" pitchFamily="50" charset="-52"/>
              </a:rPr>
              <a:t>searh?q</a:t>
            </a:r>
            <a:r>
              <a:rPr lang="en-US" sz="1000" dirty="0">
                <a:latin typeface="Montserrat ExtraLight" panose="00000300000000000000" pitchFamily="50" charset="-52"/>
              </a:rPr>
              <a:t>=%27))%20union%20select%20id,email,password,4,5,6,7,8,9%20from%20users-</a:t>
            </a:r>
            <a:r>
              <a:rPr lang="en-US" sz="1000" dirty="0" smtClean="0">
                <a:latin typeface="Montserrat ExtraLight" panose="00000300000000000000" pitchFamily="50" charset="-52"/>
              </a:rPr>
              <a:t>-</a:t>
            </a:r>
            <a:r>
              <a:rPr lang="ru-RU" sz="1000" dirty="0" smtClean="0">
                <a:latin typeface="Montserrat ExtraLight" panose="00000300000000000000" pitchFamily="50" charset="-52"/>
              </a:rPr>
              <a:t>»  </a:t>
            </a:r>
          </a:p>
          <a:p>
            <a:r>
              <a:rPr lang="ru-RU" sz="1000" dirty="0" smtClean="0">
                <a:latin typeface="Montserrat ExtraLight" panose="00000300000000000000" pitchFamily="50" charset="-52"/>
              </a:rPr>
              <a:t>Получаем </a:t>
            </a:r>
            <a:r>
              <a:rPr lang="ru-RU" sz="1000" dirty="0">
                <a:latin typeface="Montserrat ExtraLight" panose="00000300000000000000" pitchFamily="50" charset="-52"/>
              </a:rPr>
              <a:t>логины и пароли всех пользователей. </a:t>
            </a:r>
          </a:p>
          <a:p>
            <a:endParaRPr lang="ru-RU" sz="1000" dirty="0">
              <a:latin typeface="Montserrat ExtraLight" panose="00000300000000000000" pitchFamily="50" charset="-52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" y="6482281"/>
            <a:ext cx="6270945" cy="2292814"/>
          </a:xfrm>
          <a:prstGeom prst="rect">
            <a:avLst/>
          </a:prstGeom>
        </p:spPr>
      </p:pic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421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0528" y="175261"/>
            <a:ext cx="5915025" cy="1649944"/>
          </a:xfrm>
        </p:spPr>
        <p:txBody>
          <a:bodyPr>
            <a:normAutofit/>
          </a:bodyPr>
          <a:lstStyle/>
          <a:p>
            <a:r>
              <a:rPr lang="uk-UA" sz="1000" dirty="0" smtClean="0">
                <a:latin typeface="Montserrat ExtraLight" panose="00000300000000000000" pitchFamily="50" charset="-52"/>
              </a:rPr>
              <a:t>13))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Уязвимось</a:t>
            </a:r>
            <a:r>
              <a:rPr lang="uk-UA" sz="1000" dirty="0" smtClean="0">
                <a:latin typeface="Montserrat ExtraLight" panose="00000300000000000000" pitchFamily="50" charset="-52"/>
              </a:rPr>
              <a:t> назначений роли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администратора</a:t>
            </a:r>
            <a:r>
              <a:rPr lang="uk-UA" sz="1000" dirty="0" smtClean="0">
                <a:latin typeface="Montserrat ExtraLight" panose="00000300000000000000" pitchFamily="50" charset="-52"/>
              </a:rPr>
              <a:t/>
            </a:r>
            <a:br>
              <a:rPr lang="uk-UA" sz="1000" dirty="0" smtClean="0">
                <a:latin typeface="Montserrat ExtraLight" panose="00000300000000000000" pitchFamily="50" charset="-52"/>
              </a:rPr>
            </a:br>
            <a:r>
              <a:rPr lang="uk-UA" sz="1000" dirty="0">
                <a:latin typeface="Montserrat ExtraLight" panose="00000300000000000000" pitchFamily="50" charset="-52"/>
              </a:rPr>
              <a:t/>
            </a:r>
            <a:br>
              <a:rPr lang="uk-UA" sz="1000" dirty="0">
                <a:latin typeface="Montserrat ExtraLight" panose="00000300000000000000" pitchFamily="50" charset="-52"/>
              </a:rPr>
            </a:br>
            <a:r>
              <a:rPr lang="uk-UA" sz="1000" dirty="0" err="1" smtClean="0">
                <a:latin typeface="Montserrat ExtraLight" panose="00000300000000000000" pitchFamily="50" charset="-52"/>
              </a:rPr>
              <a:t>Открываем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ссылку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>
                <a:latin typeface="Montserrat ExtraLight" panose="00000300000000000000" pitchFamily="50" charset="-52"/>
              </a:rPr>
              <a:t>https://</a:t>
            </a:r>
            <a:r>
              <a:rPr lang="en-US" sz="1000" dirty="0" smtClean="0">
                <a:latin typeface="Montserrat ExtraLight" panose="00000300000000000000" pitchFamily="50" charset="-52"/>
              </a:rPr>
              <a:t>demo.owasp-juice.shop/#/register</a:t>
            </a:r>
            <a:r>
              <a:rPr lang="uk-UA" sz="1000" dirty="0" smtClean="0">
                <a:latin typeface="Montserrat ExtraLight" panose="00000300000000000000" pitchFamily="50" charset="-52"/>
              </a:rPr>
              <a:t>»</a:t>
            </a: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en-US" sz="1000" dirty="0" smtClean="0">
                <a:latin typeface="Montserrat ExtraLight" panose="00000300000000000000" pitchFamily="50" charset="-52"/>
              </a:rPr>
              <a:t>=&gt;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создаем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новую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учетную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запись</a:t>
            </a:r>
            <a:r>
              <a:rPr lang="en-US" sz="1000" dirty="0" smtClean="0">
                <a:latin typeface="Montserrat ExtraLight" panose="00000300000000000000" pitchFamily="50" charset="-52"/>
              </a:rPr>
              <a:t/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en-US" sz="1000" dirty="0" smtClean="0">
                <a:latin typeface="Montserrat ExtraLight" panose="00000300000000000000" pitchFamily="50" charset="-52"/>
              </a:rPr>
              <a:t>=&gt;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далее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отправляем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форому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регистрации</a:t>
            </a:r>
            <a:r>
              <a:rPr lang="en-US" sz="1000" dirty="0" smtClean="0">
                <a:latin typeface="Montserrat ExtraLight" panose="00000300000000000000" pitchFamily="50" charset="-52"/>
              </a:rPr>
              <a:t/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en-US" sz="1000" dirty="0" smtClean="0">
                <a:latin typeface="Montserrat ExtraLight" panose="00000300000000000000" pitchFamily="50" charset="-52"/>
              </a:rPr>
              <a:t>=&gt;</a:t>
            </a:r>
            <a:r>
              <a:rPr lang="uk-UA" sz="1000" dirty="0" smtClean="0">
                <a:latin typeface="Montserrat ExtraLight" panose="00000300000000000000" pitchFamily="50" charset="-52"/>
              </a:rPr>
              <a:t>переходим в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инструмент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BurpSuite</a:t>
            </a:r>
            <a:r>
              <a:rPr lang="uk-UA" sz="1000" dirty="0" smtClean="0">
                <a:latin typeface="Montserrat ExtraLight" panose="00000300000000000000" pitchFamily="50" charset="-52"/>
              </a:rPr>
              <a:t>» на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вкалдку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 smtClean="0">
                <a:latin typeface="Montserrat ExtraLight" panose="00000300000000000000" pitchFamily="50" charset="-52"/>
              </a:rPr>
              <a:t>Proxy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en-US" sz="1000" dirty="0" smtClean="0">
                <a:latin typeface="Montserrat ExtraLight" panose="00000300000000000000" pitchFamily="50" charset="-52"/>
              </a:rPr>
              <a:t/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en-US" sz="1000" dirty="0" smtClean="0">
                <a:latin typeface="Montserrat ExtraLight" panose="00000300000000000000" pitchFamily="50" charset="-52"/>
              </a:rPr>
              <a:t>=&gt;</a:t>
            </a:r>
            <a:r>
              <a:rPr lang="uk-UA" sz="1000" dirty="0" smtClean="0">
                <a:latin typeface="Montserrat ExtraLight" panose="00000300000000000000" pitchFamily="50" charset="-52"/>
              </a:rPr>
              <a:t>находим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нужный</a:t>
            </a:r>
            <a:r>
              <a:rPr lang="uk-UA" sz="1000" dirty="0" smtClean="0">
                <a:latin typeface="Montserrat ExtraLight" panose="00000300000000000000" pitchFamily="50" charset="-52"/>
              </a:rPr>
              <a:t> для нас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запрос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smtClean="0">
                <a:latin typeface="Montserrat ExtraLight" panose="00000300000000000000" pitchFamily="50" charset="-52"/>
              </a:rPr>
              <a:t>«</a:t>
            </a:r>
            <a:r>
              <a:rPr lang="en-US" sz="1000" dirty="0">
                <a:latin typeface="Montserrat ExtraLight" panose="00000300000000000000" pitchFamily="50" charset="-52"/>
              </a:rPr>
              <a:t>POST /</a:t>
            </a:r>
            <a:r>
              <a:rPr lang="en-US" sz="1000" dirty="0" err="1">
                <a:latin typeface="Montserrat ExtraLight" panose="00000300000000000000" pitchFamily="50" charset="-52"/>
              </a:rPr>
              <a:t>api</a:t>
            </a:r>
            <a:r>
              <a:rPr lang="en-US" sz="1000" dirty="0">
                <a:latin typeface="Montserrat ExtraLight" panose="00000300000000000000" pitchFamily="50" charset="-52"/>
              </a:rPr>
              <a:t>/Users/ HTTP/2</a:t>
            </a:r>
            <a:r>
              <a:rPr lang="uk-UA" sz="1000" dirty="0" smtClean="0">
                <a:latin typeface="Montserrat ExtraLight" panose="00000300000000000000" pitchFamily="50" charset="-52"/>
              </a:rPr>
              <a:t>»</a:t>
            </a: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en-US" sz="1000" dirty="0" smtClean="0">
                <a:latin typeface="Montserrat ExtraLight" panose="00000300000000000000" pitchFamily="50" charset="-52"/>
              </a:rPr>
              <a:t>=&gt;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отправляем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его в «</a:t>
            </a:r>
            <a:r>
              <a:rPr lang="en-US" sz="1000" dirty="0" err="1" smtClean="0">
                <a:latin typeface="Montserrat ExtraLight" panose="00000300000000000000" pitchFamily="50" charset="-52"/>
              </a:rPr>
              <a:t>Repiter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en-US" sz="1000" dirty="0" smtClean="0">
                <a:latin typeface="Montserrat ExtraLight" panose="00000300000000000000" pitchFamily="50" charset="-52"/>
              </a:rPr>
              <a:t/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en-US" sz="1000" dirty="0" smtClean="0">
                <a:latin typeface="Montserrat ExtraLight" panose="00000300000000000000" pitchFamily="50" charset="-52"/>
              </a:rPr>
              <a:t>=&gt;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добавлем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значение</a:t>
            </a:r>
            <a:r>
              <a:rPr lang="uk-UA" sz="1000" dirty="0" smtClean="0">
                <a:latin typeface="Montserrat ExtraLight" panose="00000300000000000000" pitchFamily="50" charset="-52"/>
              </a:rPr>
              <a:t> «</a:t>
            </a:r>
            <a:r>
              <a:rPr lang="en-US" sz="1000" dirty="0" smtClean="0">
                <a:latin typeface="Montserrat ExtraLight" panose="00000300000000000000" pitchFamily="50" charset="-52"/>
              </a:rPr>
              <a:t>role: “admin” , </a:t>
            </a:r>
            <a:r>
              <a:rPr lang="uk-UA" sz="1000" dirty="0" smtClean="0">
                <a:latin typeface="Montserrat ExtraLight" panose="00000300000000000000" pitchFamily="50" charset="-52"/>
              </a:rPr>
              <a:t>» </a:t>
            </a:r>
            <a:r>
              <a:rPr lang="en-US" sz="1000" dirty="0" smtClean="0">
                <a:latin typeface="Montserrat ExtraLight" panose="00000300000000000000" pitchFamily="50" charset="-52"/>
              </a:rPr>
              <a:t/>
            </a:r>
            <a:br>
              <a:rPr lang="en-US" sz="1000" dirty="0" smtClean="0">
                <a:latin typeface="Montserrat ExtraLight" panose="00000300000000000000" pitchFamily="50" charset="-52"/>
              </a:rPr>
            </a:br>
            <a:r>
              <a:rPr lang="uk-UA" sz="1000" dirty="0" err="1" smtClean="0">
                <a:latin typeface="Montserrat ExtraLight" panose="00000300000000000000" pitchFamily="50" charset="-52"/>
              </a:rPr>
              <a:t>отправялем</a:t>
            </a:r>
            <a:r>
              <a:rPr lang="uk-UA" sz="1000" dirty="0" smtClean="0">
                <a:latin typeface="Montserrat ExtraLight" panose="00000300000000000000" pitchFamily="50" charset="-52"/>
              </a:rPr>
              <a:t> </a:t>
            </a:r>
            <a:r>
              <a:rPr lang="uk-UA" sz="1000" dirty="0" err="1" smtClean="0">
                <a:latin typeface="Montserrat ExtraLight" panose="00000300000000000000" pitchFamily="50" charset="-52"/>
              </a:rPr>
              <a:t>запрос</a:t>
            </a:r>
            <a:r>
              <a:rPr lang="uk-UA" sz="1000" dirty="0" smtClean="0">
                <a:latin typeface="Montserrat ExtraLight" panose="00000300000000000000" pitchFamily="50" charset="-52"/>
              </a:rPr>
              <a:t>.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0"/>
          <a:stretch/>
        </p:blipFill>
        <p:spPr>
          <a:xfrm>
            <a:off x="855027" y="2031543"/>
            <a:ext cx="2435423" cy="25971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96" b="9192"/>
          <a:stretch/>
        </p:blipFill>
        <p:spPr>
          <a:xfrm>
            <a:off x="4130040" y="1972210"/>
            <a:ext cx="1625600" cy="265648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40" y="5041370"/>
            <a:ext cx="4019550" cy="283890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96983" y="4711920"/>
            <a:ext cx="9396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Screenshot1</a:t>
            </a:r>
            <a:endParaRPr lang="ru-RU" sz="1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551333" y="4711921"/>
            <a:ext cx="9669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Screenshot2</a:t>
            </a:r>
            <a:endParaRPr lang="ru-RU" sz="1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672774" y="7943320"/>
            <a:ext cx="96532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>
                <a:latin typeface="Montserrat ExtraLight" panose="00000300000000000000" pitchFamily="50" charset="-52"/>
              </a:rPr>
              <a:t>Screenshot3</a:t>
            </a:r>
            <a:endParaRPr lang="ru-RU" sz="1000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03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0" b="1" dirty="0">
                <a:latin typeface="Montserrat ExtraLight" panose="00000300000000000000" pitchFamily="50" charset="-52"/>
              </a:rPr>
              <a:t>Remediation Summary</a:t>
            </a:r>
            <a:br>
              <a:rPr lang="en-US" sz="1000" b="1" dirty="0">
                <a:latin typeface="Montserrat ExtraLight" panose="00000300000000000000" pitchFamily="50" charset="-52"/>
              </a:rPr>
            </a:br>
            <a:r>
              <a:rPr lang="en-US" sz="1000" dirty="0">
                <a:latin typeface="Montserrat ExtraLight" panose="00000300000000000000" pitchFamily="50" charset="-52"/>
              </a:rPr>
              <a:t/>
            </a:r>
            <a:br>
              <a:rPr lang="en-US" sz="1000" dirty="0">
                <a:latin typeface="Montserrat ExtraLight" panose="00000300000000000000" pitchFamily="50" charset="-52"/>
              </a:rPr>
            </a:br>
            <a:r>
              <a:rPr lang="ru-RU" sz="1000" dirty="0" smtClean="0">
                <a:latin typeface="Montserrat ExtraLight" panose="00000300000000000000" pitchFamily="50" charset="-52"/>
              </a:rPr>
              <a:t>Как результат «» было скомпрометирован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-приложение, были найдены критические и очень высокого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уроня</a:t>
            </a:r>
            <a:r>
              <a:rPr lang="ru-RU" sz="1000" dirty="0" smtClean="0">
                <a:latin typeface="Montserrat ExtraLight" panose="00000300000000000000" pitchFamily="50" charset="-52"/>
              </a:rPr>
              <a:t> уязвимости которые необходимо незамедлительно исправить. Большая часть уязвимостей связана с открытыми для сканирования директориями и файлами, непосредственно находящаяся информация на сервере в виде доступных лог файлов, файла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бэкапа</a:t>
            </a: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вэб</a:t>
            </a:r>
            <a:r>
              <a:rPr lang="ru-RU" sz="1000" dirty="0" smtClean="0">
                <a:latin typeface="Montserrat ExtraLight" panose="00000300000000000000" pitchFamily="50" charset="-52"/>
              </a:rPr>
              <a:t> приложения, с открытой информацией формата «</a:t>
            </a:r>
            <a:r>
              <a:rPr lang="en-US" sz="1000" dirty="0" smtClean="0">
                <a:latin typeface="Montserrat ExtraLight" panose="00000300000000000000" pitchFamily="50" charset="-52"/>
              </a:rPr>
              <a:t>OSINT</a:t>
            </a:r>
            <a:r>
              <a:rPr lang="ru-RU" sz="1000" dirty="0" smtClean="0">
                <a:latin typeface="Montserrat ExtraLight" panose="00000300000000000000" pitchFamily="50" charset="-52"/>
              </a:rPr>
              <a:t>» и многие другие файлы. Доступность информации это не единственная уязвимость , также присутствует проблема дефолтных паролей, Контроля сессии, уязвимость недостаточный уровень шифрования паролей, возможность загрузки сторонних файлов с изменением формата чтения документа/изображения/скрипта. Также видна проблема в назначении любого пользователя правами администратора и соответствующий уровень доступа </a:t>
            </a:r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488" y="2727856"/>
            <a:ext cx="5915025" cy="67590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1" dirty="0">
                <a:latin typeface="Montserrat ExtraLight" panose="00000300000000000000" pitchFamily="50" charset="-52"/>
              </a:rPr>
              <a:t>Short Term</a:t>
            </a:r>
            <a:r>
              <a:rPr lang="en-US" sz="1000" b="1" dirty="0">
                <a:latin typeface="Montserrat ExtraLight" panose="00000300000000000000" pitchFamily="50" charset="-52"/>
              </a:rPr>
              <a:t> </a:t>
            </a:r>
            <a:endParaRPr lang="en-US" sz="1000" dirty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 smtClean="0">
                <a:latin typeface="Montserrat ExtraLight" panose="00000300000000000000" pitchFamily="50" charset="-52"/>
              </a:rPr>
              <a:t>Insecure </a:t>
            </a:r>
            <a:r>
              <a:rPr lang="en-US" sz="1000" b="1" dirty="0">
                <a:latin typeface="Montserrat ExtraLight" panose="00000300000000000000" pitchFamily="50" charset="-52"/>
              </a:rPr>
              <a:t>Direct Object </a:t>
            </a:r>
            <a:r>
              <a:rPr lang="en-US" sz="1000" b="1" dirty="0" smtClean="0">
                <a:latin typeface="Montserrat ExtraLight" panose="00000300000000000000" pitchFamily="50" charset="-52"/>
              </a:rPr>
              <a:t>References</a:t>
            </a:r>
            <a:r>
              <a:rPr lang="en-US" sz="1000" dirty="0" smtClean="0">
                <a:latin typeface="Montserrat ExtraLight" panose="00000300000000000000" pitchFamily="50" charset="-52"/>
              </a:rPr>
              <a:t>]- </a:t>
            </a:r>
            <a:r>
              <a:rPr lang="ru-RU" sz="1000" dirty="0" smtClean="0">
                <a:latin typeface="Montserrat ExtraLight" panose="00000300000000000000" pitchFamily="50" charset="-52"/>
              </a:rPr>
              <a:t>Удалить из директорий информацию о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бэкапах</a:t>
            </a:r>
            <a:r>
              <a:rPr lang="ru-RU" sz="1000" dirty="0" smtClean="0">
                <a:latin typeface="Montserrat ExtraLight" panose="00000300000000000000" pitchFamily="50" charset="-52"/>
              </a:rPr>
              <a:t>, и о всех файлах советующие типу «Конфиденциальная информация» </a:t>
            </a:r>
            <a:endParaRPr lang="en-US" sz="1000" dirty="0" smtClean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>
                <a:latin typeface="Montserrat ExtraLight" panose="00000300000000000000" pitchFamily="50" charset="-52"/>
              </a:rPr>
              <a:t>Using Default Credentials</a:t>
            </a:r>
            <a:r>
              <a:rPr lang="en-US" sz="1000" dirty="0" smtClean="0">
                <a:latin typeface="Montserrat ExtraLight" panose="00000300000000000000" pitchFamily="50" charset="-52"/>
              </a:rPr>
              <a:t>]- </a:t>
            </a:r>
            <a:r>
              <a:rPr lang="ru-RU" sz="1000" dirty="0">
                <a:latin typeface="Montserrat ExtraLight" panose="00000300000000000000" pitchFamily="50" charset="-52"/>
              </a:rPr>
              <a:t>Используйте сильные пароли и регулярно </a:t>
            </a:r>
            <a:r>
              <a:rPr lang="ru-RU" sz="1000" dirty="0" smtClean="0">
                <a:latin typeface="Montserrat ExtraLight" panose="00000300000000000000" pitchFamily="50" charset="-52"/>
              </a:rPr>
              <a:t>обновлять </a:t>
            </a:r>
            <a:r>
              <a:rPr lang="ru-RU" sz="1000" dirty="0">
                <a:latin typeface="Montserrat ExtraLight" panose="00000300000000000000" pitchFamily="50" charset="-52"/>
              </a:rPr>
              <a:t>их</a:t>
            </a:r>
            <a:endParaRPr lang="ru-RU" sz="1000" dirty="0" smtClean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>
                <a:latin typeface="Montserrat ExtraLight" panose="00000300000000000000" pitchFamily="50" charset="-52"/>
              </a:rPr>
              <a:t>Access Log File Dump</a:t>
            </a:r>
            <a:r>
              <a:rPr lang="en-US" sz="1000" dirty="0" smtClean="0">
                <a:latin typeface="Montserrat ExtraLight" panose="00000300000000000000" pitchFamily="50" charset="-52"/>
              </a:rPr>
              <a:t>]</a:t>
            </a:r>
            <a:r>
              <a:rPr lang="ru-RU" sz="1000" dirty="0" smtClean="0">
                <a:latin typeface="Montserrat ExtraLight" panose="00000300000000000000" pitchFamily="50" charset="-52"/>
              </a:rPr>
              <a:t> – </a:t>
            </a:r>
            <a:r>
              <a:rPr lang="ru-RU" sz="1000" dirty="0">
                <a:latin typeface="Montserrat ExtraLight" panose="00000300000000000000" pitchFamily="50" charset="-52"/>
              </a:rPr>
              <a:t>Убедитесь, что доступ к файлам журнала доступа (</a:t>
            </a:r>
            <a:r>
              <a:rPr lang="ru-RU" sz="1000" dirty="0" err="1">
                <a:latin typeface="Montserrat ExtraLight" panose="00000300000000000000" pitchFamily="50" charset="-52"/>
              </a:rPr>
              <a:t>access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log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files</a:t>
            </a:r>
            <a:r>
              <a:rPr lang="ru-RU" sz="1000" dirty="0">
                <a:latin typeface="Montserrat ExtraLight" panose="00000300000000000000" pitchFamily="50" charset="-52"/>
              </a:rPr>
              <a:t>) </a:t>
            </a:r>
            <a:r>
              <a:rPr lang="ru-RU" sz="1000" dirty="0" smtClean="0">
                <a:latin typeface="Montserrat ExtraLight" panose="00000300000000000000" pitchFamily="50" charset="-52"/>
              </a:rPr>
              <a:t>ограничен, доступ к файлу может быть только у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Суперадмина</a:t>
            </a:r>
            <a:endParaRPr lang="ru-RU" sz="1000" dirty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 smtClean="0">
                <a:latin typeface="Montserrat ExtraLight" panose="00000300000000000000" pitchFamily="50" charset="-52"/>
              </a:rPr>
              <a:t>Dictionary </a:t>
            </a:r>
            <a:r>
              <a:rPr lang="en-US" sz="1000" b="1" dirty="0">
                <a:latin typeface="Montserrat ExtraLight" panose="00000300000000000000" pitchFamily="50" charset="-52"/>
              </a:rPr>
              <a:t>Attack</a:t>
            </a:r>
            <a:r>
              <a:rPr lang="en-US" sz="1000" dirty="0" smtClean="0">
                <a:latin typeface="Montserrat ExtraLight" panose="00000300000000000000" pitchFamily="50" charset="-52"/>
              </a:rPr>
              <a:t>]-</a:t>
            </a:r>
            <a:r>
              <a:rPr lang="ru-RU" sz="1000" dirty="0" smtClean="0">
                <a:latin typeface="Montserrat ExtraLight" panose="00000300000000000000" pitchFamily="50" charset="-52"/>
              </a:rPr>
              <a:t> Необходимо использовать пароли сложнее и длине и </a:t>
            </a:r>
            <a:r>
              <a:rPr lang="ru-RU" sz="1000" dirty="0">
                <a:latin typeface="Montserrat ExtraLight" panose="00000300000000000000" pitchFamily="50" charset="-52"/>
              </a:rPr>
              <a:t>с хешированием пароля более сложной </a:t>
            </a:r>
            <a:r>
              <a:rPr lang="ru-RU" sz="1000" dirty="0" smtClean="0">
                <a:latin typeface="Montserrat ExtraLight" panose="00000300000000000000" pitchFamily="50" charset="-52"/>
              </a:rPr>
              <a:t>хеш-функцией </a:t>
            </a:r>
            <a:r>
              <a:rPr lang="ru-RU" sz="1000" dirty="0">
                <a:latin typeface="Montserrat ExtraLight" panose="00000300000000000000" pitchFamily="50" charset="-52"/>
              </a:rPr>
              <a:t>чем </a:t>
            </a:r>
            <a:r>
              <a:rPr lang="en-US" sz="1000" dirty="0" smtClean="0">
                <a:latin typeface="Montserrat ExtraLight" panose="00000300000000000000" pitchFamily="50" charset="-52"/>
              </a:rPr>
              <a:t>md5</a:t>
            </a:r>
            <a:r>
              <a:rPr lang="ru-RU" sz="1000" dirty="0" smtClean="0">
                <a:latin typeface="Montserrat ExtraLight" panose="00000300000000000000" pitchFamily="50" charset="-52"/>
              </a:rPr>
              <a:t>, также необходимо использовать дополнительное значение «СОЛЬ» при хешировании паролей и учетных данных. </a:t>
            </a:r>
          </a:p>
          <a:p>
            <a:pPr marL="0" indent="0">
              <a:buNone/>
            </a:pPr>
            <a:r>
              <a:rPr lang="en-US" sz="1000" b="1" dirty="0">
                <a:latin typeface="Montserrat ExtraLight" panose="00000300000000000000" pitchFamily="50" charset="-52"/>
              </a:rPr>
              <a:t>Medium </a:t>
            </a:r>
            <a:r>
              <a:rPr lang="en-US" sz="1000" b="1" dirty="0" smtClean="0">
                <a:latin typeface="Montserrat ExtraLight" panose="00000300000000000000" pitchFamily="50" charset="-52"/>
              </a:rPr>
              <a:t>Term</a:t>
            </a:r>
            <a:endParaRPr lang="ru-RU" sz="1000" b="1" dirty="0" smtClean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>
                <a:latin typeface="Montserrat ExtraLight" panose="00000300000000000000" pitchFamily="50" charset="-52"/>
              </a:rPr>
              <a:t>SQL Injection</a:t>
            </a:r>
            <a:r>
              <a:rPr lang="en-US" sz="1000" dirty="0" smtClean="0">
                <a:latin typeface="Montserrat ExtraLight" panose="00000300000000000000" pitchFamily="50" charset="-52"/>
              </a:rPr>
              <a:t>]- </a:t>
            </a:r>
            <a:r>
              <a:rPr lang="ru-RU" sz="1000" dirty="0">
                <a:latin typeface="Montserrat ExtraLight" panose="00000300000000000000" pitchFamily="50" charset="-52"/>
              </a:rPr>
              <a:t>Чтобы предотвратить SQL-инъекции, рекомендуется использовать параметризованные запросы или подготовленные выражения, чтобы обеспечить безопасную обработку пользовательского ввода</a:t>
            </a:r>
            <a:endParaRPr lang="en-US" sz="1000" dirty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>
                <a:latin typeface="Montserrat ExtraLight" panose="00000300000000000000" pitchFamily="50" charset="-52"/>
              </a:rPr>
              <a:t>Using Default Credentials</a:t>
            </a:r>
            <a:r>
              <a:rPr lang="en-US" sz="1000" dirty="0" smtClean="0">
                <a:latin typeface="Montserrat ExtraLight" panose="00000300000000000000" pitchFamily="50" charset="-52"/>
              </a:rPr>
              <a:t>]- </a:t>
            </a:r>
            <a:r>
              <a:rPr lang="ru-RU" sz="1000" dirty="0">
                <a:latin typeface="Montserrat ExtraLight" panose="00000300000000000000" pitchFamily="50" charset="-52"/>
              </a:rPr>
              <a:t>Используйте сильные пароли и регулярно обновляйте их. Рекомендуется также применять механизмы двухфакторной аутентификации (2FA) для повышения безопасности при каждом входе в учетную запись</a:t>
            </a: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Sensitive Data </a:t>
            </a:r>
            <a:r>
              <a:rPr lang="en-US" sz="1000" b="1" dirty="0" smtClean="0">
                <a:solidFill>
                  <a:schemeClr val="dk1"/>
                </a:solidFill>
                <a:latin typeface="Montserrat ExtraLight" panose="00000300000000000000" pitchFamily="50" charset="-52"/>
              </a:rPr>
              <a:t>Exposure</a:t>
            </a:r>
            <a:r>
              <a:rPr lang="en-US" sz="1000" dirty="0" smtClean="0">
                <a:latin typeface="Montserrat ExtraLight" panose="00000300000000000000" pitchFamily="50" charset="-52"/>
              </a:rPr>
              <a:t>]</a:t>
            </a:r>
            <a:r>
              <a:rPr lang="ru-RU" sz="1000" dirty="0" smtClean="0">
                <a:latin typeface="Montserrat ExtraLight" panose="00000300000000000000" pitchFamily="50" charset="-52"/>
              </a:rPr>
              <a:t> – </a:t>
            </a:r>
            <a:r>
              <a:rPr lang="ru-RU" sz="1000" dirty="0">
                <a:latin typeface="Montserrat ExtraLight" panose="00000300000000000000" pitchFamily="50" charset="-52"/>
              </a:rPr>
              <a:t>Убедитесь, что доступ к файлам журнала доступа (</a:t>
            </a:r>
            <a:r>
              <a:rPr lang="ru-RU" sz="1000" dirty="0" err="1">
                <a:latin typeface="Montserrat ExtraLight" panose="00000300000000000000" pitchFamily="50" charset="-52"/>
              </a:rPr>
              <a:t>access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log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files</a:t>
            </a:r>
            <a:r>
              <a:rPr lang="ru-RU" sz="1000" dirty="0">
                <a:latin typeface="Montserrat ExtraLight" panose="00000300000000000000" pitchFamily="50" charset="-52"/>
              </a:rPr>
              <a:t>) ограничен только авторизованным пользователям или администраторам</a:t>
            </a:r>
            <a:endParaRPr lang="ru-RU" sz="1000" dirty="0" smtClean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[</a:t>
            </a:r>
            <a:r>
              <a:rPr lang="en-US" sz="1000" b="1" dirty="0">
                <a:latin typeface="Montserrat ExtraLight" panose="00000300000000000000" pitchFamily="50" charset="-52"/>
              </a:rPr>
              <a:t>NoSQL Injection</a:t>
            </a:r>
            <a:r>
              <a:rPr lang="en-US" sz="1000" dirty="0" smtClean="0">
                <a:latin typeface="Montserrat ExtraLight" panose="00000300000000000000" pitchFamily="50" charset="-52"/>
              </a:rPr>
              <a:t>]</a:t>
            </a:r>
            <a:r>
              <a:rPr lang="ru-RU" sz="1000" dirty="0" smtClean="0">
                <a:latin typeface="Montserrat ExtraLight" panose="00000300000000000000" pitchFamily="50" charset="-52"/>
              </a:rPr>
              <a:t> </a:t>
            </a:r>
            <a:r>
              <a:rPr lang="ru-RU" sz="1000" dirty="0">
                <a:latin typeface="Montserrat ExtraLight" panose="00000300000000000000" pitchFamily="50" charset="-52"/>
              </a:rPr>
              <a:t>Необходимо проводить правильную </a:t>
            </a:r>
            <a:r>
              <a:rPr lang="ru-RU" sz="1000" dirty="0" smtClean="0">
                <a:latin typeface="Montserrat ExtraLight" panose="00000300000000000000" pitchFamily="50" charset="-52"/>
              </a:rPr>
              <a:t>вариацию </a:t>
            </a:r>
            <a:r>
              <a:rPr lang="ru-RU" sz="1000" dirty="0">
                <a:latin typeface="Montserrat ExtraLight" panose="00000300000000000000" pitchFamily="50" charset="-52"/>
              </a:rPr>
              <a:t>и фильтрацию входных данных, которые передаются в операции базы данных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NoSQL</a:t>
            </a:r>
            <a:endParaRPr lang="ru-RU" sz="1000" dirty="0" smtClean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>
                <a:latin typeface="Montserrat ExtraLight" panose="00000300000000000000" pitchFamily="50" charset="-52"/>
              </a:rPr>
              <a:t>[Manipulation </a:t>
            </a:r>
            <a:r>
              <a:rPr lang="en-US" sz="1000" dirty="0" err="1">
                <a:latin typeface="Montserrat ExtraLight" panose="00000300000000000000" pitchFamily="50" charset="-52"/>
              </a:rPr>
              <a:t>NoSql</a:t>
            </a:r>
            <a:r>
              <a:rPr lang="en-US" sz="1000" dirty="0">
                <a:latin typeface="Montserrat ExtraLight" panose="00000300000000000000" pitchFamily="50" charset="-52"/>
              </a:rPr>
              <a:t> ]</a:t>
            </a:r>
            <a:r>
              <a:rPr lang="ru-RU" sz="1000" dirty="0">
                <a:latin typeface="Montserrat ExtraLight" panose="00000300000000000000" pitchFamily="50" charset="-52"/>
              </a:rPr>
              <a:t>-Для защиты от таких атак рекомендуется использовать хорошо спроектированные механизмы аутентификации и авторизации, проверять и фильтровать пользовательский ввод, регулярно обновлять и поддерживать базы данных и следить за обновлениями и рекомендациями от разработчиков баз данных </a:t>
            </a:r>
            <a:r>
              <a:rPr lang="ru-RU" sz="1000" dirty="0" err="1">
                <a:latin typeface="Montserrat ExtraLight" panose="00000300000000000000" pitchFamily="50" charset="-52"/>
              </a:rPr>
              <a:t>NoSQL</a:t>
            </a:r>
            <a:r>
              <a:rPr lang="ru-RU" sz="1000" dirty="0">
                <a:latin typeface="Montserrat ExtraLight" panose="00000300000000000000" pitchFamily="50" charset="-52"/>
              </a:rPr>
              <a:t>.</a:t>
            </a:r>
            <a:endParaRPr lang="en-US" sz="1000" dirty="0">
              <a:latin typeface="Montserrat ExtraLight" panose="00000300000000000000" pitchFamily="50" charset="-52"/>
            </a:endParaRPr>
          </a:p>
          <a:p>
            <a:pPr marL="0" indent="0">
              <a:buNone/>
            </a:pPr>
            <a:r>
              <a:rPr lang="en-US" sz="1000" dirty="0" smtClean="0">
                <a:latin typeface="Montserrat ExtraLight" panose="00000300000000000000" pitchFamily="50" charset="-52"/>
              </a:rPr>
              <a:t> </a:t>
            </a:r>
            <a:r>
              <a:rPr lang="en-US" sz="1000" dirty="0"/>
              <a:t/>
            </a:r>
            <a:br>
              <a:rPr lang="en-US" sz="1000" dirty="0"/>
            </a:br>
            <a:endParaRPr lang="en-US" sz="1000" dirty="0">
              <a:latin typeface="Montserrat ExtraLight" panose="00000300000000000000" pitchFamily="50" charset="-52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340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488" y="254000"/>
            <a:ext cx="5915025" cy="8668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1" dirty="0">
                <a:latin typeface="Montserrat ExtraLight" panose="00000300000000000000" pitchFamily="50" charset="-52"/>
              </a:rPr>
              <a:t>Long Term </a:t>
            </a:r>
            <a:r>
              <a:rPr lang="en-US" sz="1100" dirty="0">
                <a:latin typeface="Montserrat ExtraLight" panose="00000300000000000000" pitchFamily="50" charset="-52"/>
              </a:rPr>
              <a:t/>
            </a:r>
            <a:br>
              <a:rPr lang="en-US" sz="1100" dirty="0">
                <a:latin typeface="Montserrat ExtraLight" panose="00000300000000000000" pitchFamily="50" charset="-52"/>
              </a:rPr>
            </a:br>
            <a:endParaRPr lang="en-US" sz="1100" dirty="0">
              <a:latin typeface="Montserrat ExtraLight" panose="00000300000000000000" pitchFamily="50" charset="-52"/>
            </a:endParaRPr>
          </a:p>
          <a:p>
            <a:r>
              <a:rPr lang="ru-RU" sz="1000" b="1" dirty="0" smtClean="0">
                <a:latin typeface="Montserrat ExtraLight" panose="00000300000000000000" pitchFamily="50" charset="-52"/>
              </a:rPr>
              <a:t>Обновление </a:t>
            </a:r>
            <a:r>
              <a:rPr lang="ru-RU" sz="1000" b="1" dirty="0">
                <a:latin typeface="Montserrat ExtraLight" panose="00000300000000000000" pitchFamily="50" charset="-52"/>
              </a:rPr>
              <a:t>операционных систем и прошивок: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Регулярно обновляйте операционные системы и прошивки на серверах и устройствах, чтобы исправить известные уязвимости и обеспечить безопасные настройки по умолчанию.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Следите за релизами обновлений, </a:t>
            </a:r>
            <a:r>
              <a:rPr lang="ru-RU" sz="1000" dirty="0" err="1">
                <a:latin typeface="Montserrat ExtraLight" panose="00000300000000000000" pitchFamily="50" charset="-52"/>
              </a:rPr>
              <a:t>патчей</a:t>
            </a:r>
            <a:r>
              <a:rPr lang="ru-RU" sz="1000" dirty="0">
                <a:latin typeface="Montserrat ExtraLight" panose="00000300000000000000" pitchFamily="50" charset="-52"/>
              </a:rPr>
              <a:t> и исправлений безопасности от поставщиков операционных систем и производителей устройств.</a:t>
            </a:r>
          </a:p>
          <a:p>
            <a:r>
              <a:rPr lang="ru-RU" sz="1000" b="1" dirty="0">
                <a:latin typeface="Montserrat ExtraLight" panose="00000300000000000000" pitchFamily="50" charset="-52"/>
              </a:rPr>
              <a:t>Корректное обращение с конфиденциальными данными</a:t>
            </a:r>
            <a:r>
              <a:rPr lang="ru-RU" sz="1000" dirty="0">
                <a:latin typeface="Montserrat ExtraLight" panose="00000300000000000000" pitchFamily="50" charset="-52"/>
              </a:rPr>
              <a:t>: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Осуществляйте защиту конфиденциальных данных с использованием шифрования в покое и в движении.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Правильно управляйте жизненным циклом конфиденциальных данных, включая их сбор, передачу, хранение и уничтожение.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Ограничьте доступ к конфиденциальным данным только необходимым сотрудникам и учетным записям, и применяйте механизмы контроля доступа.</a:t>
            </a:r>
          </a:p>
          <a:p>
            <a:r>
              <a:rPr lang="ru-RU" sz="1000" b="1" dirty="0">
                <a:latin typeface="Montserrat ExtraLight" panose="00000300000000000000" pitchFamily="50" charset="-52"/>
              </a:rPr>
              <a:t>Реализация надежных механизмов аутентификации и управления сеансами: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Используйте проверенные методы аутентификации, такие как </a:t>
            </a:r>
            <a:r>
              <a:rPr lang="ru-RU" sz="1000" dirty="0" smtClean="0">
                <a:latin typeface="Montserrat ExtraLight" panose="00000300000000000000" pitchFamily="50" charset="-52"/>
              </a:rPr>
              <a:t>, </a:t>
            </a:r>
            <a:r>
              <a:rPr lang="ru-RU" sz="1000" dirty="0" err="1">
                <a:latin typeface="Montserrat ExtraLight" panose="00000300000000000000" pitchFamily="50" charset="-52"/>
              </a:rPr>
              <a:t>OpenID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 smtClean="0">
                <a:latin typeface="Montserrat ExtraLight" panose="00000300000000000000" pitchFamily="50" charset="-52"/>
              </a:rPr>
              <a:t>Connect</a:t>
            </a:r>
            <a:r>
              <a:rPr lang="ru-RU" sz="1000" dirty="0" smtClean="0">
                <a:latin typeface="Montserrat ExtraLight" panose="00000300000000000000" pitchFamily="50" charset="-52"/>
              </a:rPr>
              <a:t>, </a:t>
            </a:r>
            <a:r>
              <a:rPr lang="ru-RU" sz="1000" dirty="0">
                <a:latin typeface="Montserrat ExtraLight" panose="00000300000000000000" pitchFamily="50" charset="-52"/>
              </a:rPr>
              <a:t>для обеспечения безопасного входа в систему.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Управляйте сеансами пользователей, включая правильное установление тайм-аутов, повторную аутентификацию для критических операций и защиту от атак подбора сеансов (</a:t>
            </a:r>
            <a:r>
              <a:rPr lang="ru-RU" sz="1000" dirty="0" err="1">
                <a:latin typeface="Montserrat ExtraLight" panose="00000300000000000000" pitchFamily="50" charset="-52"/>
              </a:rPr>
              <a:t>session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hijacking</a:t>
            </a:r>
            <a:r>
              <a:rPr lang="ru-RU" sz="1000" dirty="0">
                <a:latin typeface="Montserrat ExtraLight" panose="00000300000000000000" pitchFamily="50" charset="-52"/>
              </a:rPr>
              <a:t>).</a:t>
            </a:r>
          </a:p>
          <a:p>
            <a:r>
              <a:rPr lang="ru-RU" sz="1000" b="1" dirty="0">
                <a:latin typeface="Montserrat ExtraLight" panose="00000300000000000000" pitchFamily="50" charset="-52"/>
              </a:rPr>
              <a:t>Обучение пользователей и персонала: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Проводите обучение пользователей по безопасному использованию паролей, аутентификации и обращению с конфиденциальными данными.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Подготовьте персонал к обнаружению и реагированию на возможные угрозы, связанные с нарушением аутентификации и управлением сеансами.</a:t>
            </a:r>
          </a:p>
          <a:p>
            <a:r>
              <a:rPr lang="ru-RU" sz="1000" b="1" dirty="0">
                <a:latin typeface="Montserrat ExtraLight" panose="00000300000000000000" pitchFamily="50" charset="-52"/>
              </a:rPr>
              <a:t>Проведение регулярных аудитов безопасности и тестирования: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Периодически проводите аудиты безопасности, чтобы обнаружить слабые места и уязвимости в системе, связанные с нарушением аутентификации и управлением сеансами.</a:t>
            </a:r>
          </a:p>
          <a:p>
            <a:pPr marL="342900" lvl="1" indent="0">
              <a:buNone/>
            </a:pPr>
            <a:r>
              <a:rPr lang="ru-RU" sz="1000" dirty="0">
                <a:latin typeface="Montserrat ExtraLight" panose="00000300000000000000" pitchFamily="50" charset="-52"/>
              </a:rPr>
              <a:t>Проводите регулярное тестирование на проникновение (</a:t>
            </a:r>
            <a:r>
              <a:rPr lang="ru-RU" sz="1000" dirty="0" err="1">
                <a:latin typeface="Montserrat ExtraLight" panose="00000300000000000000" pitchFamily="50" charset="-52"/>
              </a:rPr>
              <a:t>penetration</a:t>
            </a:r>
            <a:r>
              <a:rPr lang="ru-RU" sz="1000" dirty="0">
                <a:latin typeface="Montserrat ExtraLight" panose="00000300000000000000" pitchFamily="50" charset="-52"/>
              </a:rPr>
              <a:t> </a:t>
            </a:r>
            <a:r>
              <a:rPr lang="ru-RU" sz="1000" dirty="0" err="1">
                <a:latin typeface="Montserrat ExtraLight" panose="00000300000000000000" pitchFamily="50" charset="-52"/>
              </a:rPr>
              <a:t>testing</a:t>
            </a:r>
            <a:r>
              <a:rPr lang="ru-RU" sz="1000" dirty="0">
                <a:latin typeface="Montserrat ExtraLight" panose="00000300000000000000" pitchFamily="50" charset="-52"/>
              </a:rPr>
              <a:t>) для выявления уязвимостей и проверки эффективности принятых мер безопасности.</a:t>
            </a:r>
          </a:p>
          <a:p>
            <a:endParaRPr lang="ru-RU" sz="1000" dirty="0">
              <a:latin typeface="Montserrat ExtraLight" panose="00000300000000000000" pitchFamily="50" charset="-52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07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488" y="976985"/>
            <a:ext cx="5915025" cy="731027"/>
          </a:xfrm>
        </p:spPr>
        <p:txBody>
          <a:bodyPr>
            <a:normAutofit/>
          </a:bodyPr>
          <a:lstStyle/>
          <a:p>
            <a:r>
              <a:rPr lang="ru-RU" sz="1100" b="1" dirty="0" smtClean="0">
                <a:latin typeface="Montserrat ExtraLight" panose="00000300000000000000" pitchFamily="50" charset="-52"/>
              </a:rPr>
              <a:t>Описание для технического специалиста</a:t>
            </a:r>
            <a:r>
              <a:rPr lang="en-US" sz="1100" b="1" dirty="0" smtClean="0">
                <a:latin typeface="Montserrat ExtraLight" panose="00000300000000000000" pitchFamily="50" charset="-52"/>
              </a:rPr>
              <a:t> </a:t>
            </a:r>
            <a:endParaRPr lang="ru-RU" sz="1100" dirty="0">
              <a:latin typeface="Montserrat ExtraLight" panose="00000300000000000000" pitchFamily="50" charset="-52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317135"/>
              </p:ext>
            </p:extLst>
          </p:nvPr>
        </p:nvGraphicFramePr>
        <p:xfrm>
          <a:off x="471487" y="2656304"/>
          <a:ext cx="5915026" cy="553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</a:t>
                      </a: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CWE-82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1445271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В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окно</a:t>
                      </a:r>
                      <a:r>
                        <a:rPr lang="uk-UA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ввда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логин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было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использовано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следующее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значение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’ or 1=1-- -’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»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это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значение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может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быть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использовано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в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множествнных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местах</a:t>
                      </a:r>
                      <a:r>
                        <a:rPr lang="uk-UA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Уровень влияния – критический,</a:t>
                      </a:r>
                      <a:r>
                        <a:rPr lang="ru-RU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п</a:t>
                      </a:r>
                      <a:r>
                        <a:rPr lang="ru-RU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ри помаши</a:t>
                      </a:r>
                      <a:r>
                        <a:rPr lang="ru-RU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этой уязвимости получил доступ к учетной записи администратора, затем получил доступ к всем файлам и директориям имущие соответствующий уровень доступа. Также это уязвимость работает и в полях ввода </a:t>
                      </a:r>
                      <a:r>
                        <a:rPr lang="ru-RU" sz="10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пороля</a:t>
                      </a:r>
                      <a:r>
                        <a:rPr lang="ru-RU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, сброс пароля, доставка товара</a:t>
                      </a:r>
                      <a:r>
                        <a:rPr lang="en-US" sz="1000" b="0" i="0" baseline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.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https://demo.owasp-juice.shop/#/login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Ограничьте права доступа к базе данных, предоставляя только те разрешения, которые необходимы для выполнения операций. Предоставляйте базе данных только минимальный набор привилегий, чтобы снизить потенциальный ущерб при возможной эксплуатации SQL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Injection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Регулярное обновление и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патчинг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: Регулярно обновляйте используемую базу данных и ее драйверы, чтобы исправить известные уязвимости, связанные с SQL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Injection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. Поставщики баз данных и разработчики постоянно работают над улучшением безопасности и выпускают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патчи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и обновления для предотвращения эксплуатации уязвимостей.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https://cheatsheetseries.owasp.org/cheatsheets/SQL_Injection_Prevention_Cheat_Sheet.html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98600" y="2286972"/>
            <a:ext cx="2433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Montserrat ExtraLight" panose="00000300000000000000" pitchFamily="50" charset="-52"/>
              </a:rPr>
              <a:t>1. </a:t>
            </a:r>
            <a:r>
              <a:rPr lang="en-US" b="1" dirty="0" err="1">
                <a:latin typeface="Montserrat ExtraLight" panose="00000300000000000000" pitchFamily="50" charset="-52"/>
              </a:rPr>
              <a:t>Sql</a:t>
            </a:r>
            <a:r>
              <a:rPr lang="en-US" b="1" dirty="0">
                <a:latin typeface="Montserrat ExtraLight" panose="00000300000000000000" pitchFamily="50" charset="-52"/>
              </a:rPr>
              <a:t>-injection  - P1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979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309456"/>
              </p:ext>
            </p:extLst>
          </p:nvPr>
        </p:nvGraphicFramePr>
        <p:xfrm>
          <a:off x="471487" y="2244824"/>
          <a:ext cx="5915026" cy="441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 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CWE-259</a:t>
                      </a:r>
                      <a:endParaRPr lang="en-US" sz="1000" b="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89390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dirty="0" smtClean="0">
                          <a:effectLst/>
                          <a:latin typeface="Montserrat ExtraLight" panose="00000300000000000000" pitchFamily="50" charset="-52"/>
                        </a:rPr>
                        <a:t>Осмотрев </a:t>
                      </a:r>
                      <a:r>
                        <a:rPr lang="ru-RU" sz="1000" b="0" dirty="0" err="1" smtClean="0">
                          <a:effectLst/>
                          <a:latin typeface="Montserrat ExtraLight" panose="00000300000000000000" pitchFamily="50" charset="-52"/>
                        </a:rPr>
                        <a:t>Вэб</a:t>
                      </a:r>
                      <a:r>
                        <a:rPr lang="ru-RU" sz="1000" b="0" dirty="0" smtClean="0">
                          <a:effectLst/>
                          <a:latin typeface="Montserrat ExtraLight" panose="00000300000000000000" pitchFamily="50" charset="-52"/>
                        </a:rPr>
                        <a:t> приложение был найден электронный адрес предполагаемого</a:t>
                      </a:r>
                      <a:r>
                        <a:rPr lang="ru-RU" sz="1000" b="0" baseline="0" dirty="0" smtClean="0"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ru-RU" sz="1000" b="0" dirty="0" smtClean="0">
                          <a:effectLst/>
                          <a:latin typeface="Montserrat ExtraLight" panose="00000300000000000000" pitchFamily="50" charset="-52"/>
                        </a:rPr>
                        <a:t>администратора,</a:t>
                      </a:r>
                      <a:r>
                        <a:rPr lang="ru-RU" sz="1000" b="0" baseline="0" dirty="0" smtClean="0">
                          <a:effectLst/>
                          <a:latin typeface="Montserrat ExtraLight" panose="00000300000000000000" pitchFamily="50" charset="-52"/>
                        </a:rPr>
                        <a:t> и использован пароль « </a:t>
                      </a:r>
                      <a:r>
                        <a:rPr lang="en-US" sz="1000" b="0" baseline="0" dirty="0" smtClean="0">
                          <a:effectLst/>
                          <a:latin typeface="Montserrat ExtraLight" panose="00000300000000000000" pitchFamily="50" charset="-52"/>
                        </a:rPr>
                        <a:t>admin123</a:t>
                      </a:r>
                      <a:r>
                        <a:rPr lang="ru-RU" sz="1000" b="0" baseline="0" dirty="0" smtClean="0">
                          <a:effectLst/>
                          <a:latin typeface="Montserrat ExtraLight" panose="00000300000000000000" pitchFamily="50" charset="-52"/>
                        </a:rPr>
                        <a:t>»,после чего было произведен вход в учетную запись. </a:t>
                      </a:r>
                      <a:endParaRPr lang="en-US" sz="1000" b="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Эта уязвимость возникает, когда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аутентификационные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данные (логин и пароль) для доступа к системе или ресурсу используются по умолчанию или остаются неизменными после установки. Злоумышленники могут легко получить доступ к системе или ресурсу с использованием этих стандартных учетных данных.</a:t>
                      </a:r>
                      <a:endParaRPr lang="en-US" sz="1000" b="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https://demo.owasp-juice.shop/#/login</a:t>
                      </a:r>
                      <a:endParaRPr lang="en-US" sz="1000" b="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Измените все стандартные учетные данные по умолчанию после установки системы или ресурса.</a:t>
                      </a:r>
                    </a:p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- Используйте сильные и уникальные пароли для аутентификации. </a:t>
                      </a:r>
                    </a:p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- Регулярно изменяйте пароли и избегайте повторного использования паролей. </a:t>
                      </a:r>
                    </a:p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- Используйте механизмы двухфакторной аутентификации (2FA) для дополнительного слоя защиты.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https://owasp.org/www-project-web-security-testing-guide/latest/4-Web_Application_Security_Testing/04-Authentication_Testing/02-Testing_for_Default_Credentials</a:t>
                      </a:r>
                      <a:endParaRPr lang="en-US" sz="1000" b="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71487" y="1189692"/>
            <a:ext cx="60588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>
                <a:latin typeface="Montserrat ExtraLight" panose="00000300000000000000" pitchFamily="50" charset="-52"/>
              </a:rPr>
              <a:t>2</a:t>
            </a:r>
            <a:r>
              <a:rPr lang="en-US" sz="1600" b="1" dirty="0" smtClean="0">
                <a:latin typeface="Montserrat ExtraLight" panose="00000300000000000000" pitchFamily="50" charset="-52"/>
              </a:rPr>
              <a:t>. </a:t>
            </a:r>
            <a:r>
              <a:rPr lang="en-US" sz="16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Using Default </a:t>
            </a:r>
            <a:r>
              <a:rPr lang="en-US" sz="1600" dirty="0">
                <a:latin typeface="Montserrat ExtraLight" panose="00000300000000000000" pitchFamily="50" charset="-52"/>
              </a:rPr>
              <a:t>Cred</a:t>
            </a:r>
            <a:r>
              <a:rPr lang="en-US" sz="16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entials/pass</a:t>
            </a:r>
            <a:r>
              <a:rPr lang="uk-UA" sz="16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( </a:t>
            </a:r>
            <a:r>
              <a:rPr lang="uk-UA" sz="1600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использование</a:t>
            </a:r>
            <a:r>
              <a:rPr lang="uk-UA" sz="16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</a:t>
            </a:r>
            <a:r>
              <a:rPr lang="uk-UA" sz="1600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дефолтного</a:t>
            </a:r>
            <a:r>
              <a:rPr lang="uk-UA" sz="16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пароля для </a:t>
            </a:r>
            <a:r>
              <a:rPr lang="uk-UA" sz="1600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администратора</a:t>
            </a:r>
            <a:r>
              <a:rPr lang="uk-UA" sz="1600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) </a:t>
            </a:r>
            <a:r>
              <a:rPr lang="en-US" sz="1600" b="1" dirty="0" smtClean="0">
                <a:latin typeface="Montserrat ExtraLight" panose="00000300000000000000" pitchFamily="50" charset="-52"/>
              </a:rPr>
              <a:t> </a:t>
            </a:r>
            <a:r>
              <a:rPr lang="en-US" sz="1600" b="1" dirty="0">
                <a:latin typeface="Montserrat ExtraLight" panose="00000300000000000000" pitchFamily="50" charset="-52"/>
              </a:rPr>
              <a:t>- P1</a:t>
            </a:r>
            <a:endParaRPr lang="ru-RU" sz="1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167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316499"/>
              </p:ext>
            </p:extLst>
          </p:nvPr>
        </p:nvGraphicFramePr>
        <p:xfrm>
          <a:off x="471487" y="2656304"/>
          <a:ext cx="5915026" cy="5096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</a:t>
                      </a: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CWE-77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1445271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Переходим по ссылке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</a:t>
                      </a:r>
                      <a:r>
                        <a:rPr lang="ru-RU" sz="1000" dirty="0" err="1" smtClean="0">
                          <a:latin typeface="Montserrat ExtraLight" panose="00000300000000000000" pitchFamily="50" charset="-52"/>
                        </a:rPr>
                        <a:t>выполнеям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 команду поиска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apple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предварительно перехватив запрос через </a:t>
                      </a:r>
                      <a:r>
                        <a:rPr lang="ru-RU" sz="1000" dirty="0" err="1" smtClean="0">
                          <a:latin typeface="Montserrat ExtraLight" panose="00000300000000000000" pitchFamily="50" charset="-52"/>
                        </a:rPr>
                        <a:t>через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Proxy&gt;Intercept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отправляем запрос в «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Repiter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», меняем значение  :</a:t>
                      </a:r>
                    </a:p>
                    <a:p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/rest/products/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search?q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=apple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</a:t>
                      </a:r>
                    </a:p>
                    <a:p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на следующее значение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/rest/products/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search?q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=rest/products/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searh?q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=%27))%20union%20select%20id,email,password,4,5,6,7,8,9%20from%20users--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 </a:t>
                      </a:r>
                    </a:p>
                    <a:p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Получаем логины и пароли всех пользователей. </a:t>
                      </a:r>
                      <a:endParaRPr lang="ru-RU" sz="1000" dirty="0"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Эта уязвимость возникает, когда злоумышленник может внедрить вредоносный код или команды в запросы, предназначенные для баз данных или операционной системы. В результате злоумышленник может получить несанкционированный доступ к данным, выполнить произвольные команды или контролировать систему.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https://demo.owasp-juice.shop/#/serach?q=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Не доверяйте пользовательскому вводу и обязательно проводите проверку и фильтрацию данных перед использованием их в запросах. - Используйте параметризованные запросы или подготовленные выражения для обработки пользовательского ввода. - Примените контекстуальное экранирование или фильтрацию данных, чтобы предотвратить интерпретацию пользовательского ввода как команды или кода. - Ограничьте привилегии доступа к базе данных и операционной системе, предоставляя только необходимые права.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https://owasp.org/www-pdf-archive/GOD16-NOSQL.pdf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68133" y="1313702"/>
            <a:ext cx="59183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Montserrat ExtraLight" panose="00000300000000000000" pitchFamily="50" charset="-52"/>
              </a:rPr>
              <a:t>3</a:t>
            </a:r>
            <a:r>
              <a:rPr lang="en-US" b="1" dirty="0" smtClean="0">
                <a:latin typeface="Montserrat ExtraLight" panose="00000300000000000000" pitchFamily="50" charset="-52"/>
              </a:rPr>
              <a:t>. </a:t>
            </a:r>
            <a:r>
              <a:rPr lang="en-US" dirty="0" smtClean="0">
                <a:latin typeface="Montserrat ExtraLight" panose="00000300000000000000" pitchFamily="50" charset="-52"/>
              </a:rPr>
              <a:t>Manipulation </a:t>
            </a:r>
            <a:r>
              <a:rPr lang="en-US" dirty="0" err="1" smtClean="0">
                <a:latin typeface="Montserrat ExtraLight" panose="00000300000000000000" pitchFamily="50" charset="-52"/>
              </a:rPr>
              <a:t>NoSql</a:t>
            </a:r>
            <a:r>
              <a:rPr lang="en-US" dirty="0" smtClean="0">
                <a:latin typeface="Montserrat ExtraLight" panose="00000300000000000000" pitchFamily="50" charset="-52"/>
              </a:rPr>
              <a:t> </a:t>
            </a:r>
            <a:r>
              <a:rPr lang="en-US" dirty="0">
                <a:latin typeface="Montserrat ExtraLight" panose="00000300000000000000" pitchFamily="50" charset="-52"/>
              </a:rPr>
              <a:t>injection/</a:t>
            </a:r>
            <a:r>
              <a:rPr lang="en-US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Command </a:t>
            </a:r>
            <a:r>
              <a:rPr lang="en-US" dirty="0" smtClean="0">
                <a:latin typeface="Montserrat ExtraLight" panose="00000300000000000000" pitchFamily="50" charset="-52"/>
              </a:rPr>
              <a:t>Inj</a:t>
            </a:r>
            <a:r>
              <a:rPr lang="en-US" dirty="0" smtClean="0">
                <a:solidFill>
                  <a:schemeClr val="dk1"/>
                </a:solidFill>
                <a:latin typeface="Montserrat ExtraLight" panose="00000300000000000000" pitchFamily="50" charset="-52"/>
              </a:rPr>
              <a:t>ection.</a:t>
            </a:r>
            <a:endParaRPr lang="ru-RU" dirty="0">
              <a:solidFill>
                <a:schemeClr val="dk1"/>
              </a:solidFill>
              <a:latin typeface="Montserrat ExtraLight" panose="00000300000000000000" pitchFamily="50" charset="-52"/>
            </a:endParaRPr>
          </a:p>
          <a:p>
            <a:r>
              <a:rPr lang="ru-RU" dirty="0">
                <a:latin typeface="Montserrat ExtraLight" panose="00000300000000000000" pitchFamily="50" charset="-52"/>
              </a:rPr>
              <a:t>(получили всю базу данных пользователей и Администраторов) </a:t>
            </a:r>
            <a:r>
              <a:rPr lang="en-US" b="1" dirty="0" smtClean="0">
                <a:latin typeface="Montserrat ExtraLight" panose="00000300000000000000" pitchFamily="50" charset="-52"/>
              </a:rPr>
              <a:t>- </a:t>
            </a:r>
            <a:r>
              <a:rPr lang="en-US" b="1" dirty="0">
                <a:latin typeface="Montserrat ExtraLight" panose="00000300000000000000" pitchFamily="50" charset="-52"/>
              </a:rPr>
              <a:t>P1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306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765429"/>
              </p:ext>
            </p:extLst>
          </p:nvPr>
        </p:nvGraphicFramePr>
        <p:xfrm>
          <a:off x="471487" y="2656304"/>
          <a:ext cx="5915026" cy="5118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</a:t>
                      </a: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CWE-532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1445271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Запускаем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сканет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FFUF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получаем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перечен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отсканированых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дерикторий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и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файлов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.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Переходим по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ссылке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https://demo.owasp-juice.shop/support/log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и видим файл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открываем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его через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дополнительную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команду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https://demo.owasp-juice.shop/support/log/access.log.2023-07-14%25%30%30.md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Получен файл с логами всех пользователей </a:t>
                      </a:r>
                      <a:endParaRPr lang="uk-UA" sz="1000" dirty="0" smtClean="0">
                        <a:latin typeface="Montserrat ExtraLight" panose="00000300000000000000" pitchFamily="50" charset="-52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 smtClean="0">
                        <a:latin typeface="Montserrat ExtraLight" panose="00000300000000000000" pitchFamily="50" charset="-52"/>
                      </a:endParaRPr>
                    </a:p>
                    <a:p>
                      <a:endParaRPr lang="uk-UA" sz="1000" dirty="0"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Эта уязвимость возникает, когда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логи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системы или приложения содержат хранящиеся в них пользовательские учетные данные, такие как пароли или личная информация. Если злоумышленник получает несанкционированный доступ к этим логам, это может привести к компрометации пользовательских учетных данных и возможному злоупотреблению этой информацией.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https://demo.owasp-juice.shop/support/logs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Никогда не храните пользовательские учетные данные в логах системы или приложения. Если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логи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уже содержат такую информацию, удалите ее или примените механизмы шифрования или хеширования для обеспечения безопасного хранения. - Установите строгие контроли и ограничения доступа к логам системы, чтобы предотвратить несанкционированный доступ. -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Мониторьте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логи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системы и приложения на наличие аномалий и подозрительной активности.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https://owasp.org/www-project-top-ten/2017/A2_2017-Broken_Authentication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52880" y="1540212"/>
            <a:ext cx="60336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Montserrat ExtraLight" panose="00000300000000000000" pitchFamily="50" charset="-52"/>
              </a:rPr>
              <a:t>4</a:t>
            </a:r>
            <a:r>
              <a:rPr lang="en-US" b="1" dirty="0" smtClean="0">
                <a:latin typeface="Montserrat ExtraLight" panose="00000300000000000000" pitchFamily="50" charset="-52"/>
              </a:rPr>
              <a:t>. </a:t>
            </a:r>
            <a:r>
              <a:rPr lang="en-US" dirty="0" smtClean="0">
                <a:solidFill>
                  <a:srgbClr val="000000"/>
                </a:solidFill>
                <a:latin typeface="Montserrat ExtraLight" panose="00000300000000000000" pitchFamily="50" charset="-52"/>
              </a:rPr>
              <a:t>Users </a:t>
            </a:r>
            <a:r>
              <a:rPr lang="en-US" dirty="0">
                <a:solidFill>
                  <a:srgbClr val="000000"/>
                </a:solidFill>
                <a:latin typeface="Montserrat ExtraLight" panose="00000300000000000000" pitchFamily="50" charset="-52"/>
              </a:rPr>
              <a:t>credentials</a:t>
            </a:r>
            <a:r>
              <a:rPr lang="uk-UA" dirty="0">
                <a:solidFill>
                  <a:srgbClr val="000000"/>
                </a:solidFill>
                <a:latin typeface="Montserrat ExtraLight" panose="00000300000000000000" pitchFamily="50" charset="-52"/>
              </a:rPr>
              <a:t> ( Получили доступ к </a:t>
            </a:r>
            <a:r>
              <a:rPr lang="uk-UA" dirty="0" err="1" smtClean="0">
                <a:solidFill>
                  <a:srgbClr val="000000"/>
                </a:solidFill>
                <a:latin typeface="Montserrat ExtraLight" panose="00000300000000000000" pitchFamily="50" charset="-52"/>
              </a:rPr>
              <a:t>логам</a:t>
            </a:r>
            <a:r>
              <a:rPr lang="uk-UA" dirty="0" smtClean="0">
                <a:solidFill>
                  <a:srgbClr val="000000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rgbClr val="000000"/>
                </a:solidFill>
                <a:latin typeface="Montserrat ExtraLight" panose="00000300000000000000" pitchFamily="50" charset="-52"/>
              </a:rPr>
              <a:t>всех</a:t>
            </a:r>
            <a:r>
              <a:rPr lang="uk-UA" dirty="0">
                <a:solidFill>
                  <a:srgbClr val="000000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rgbClr val="000000"/>
                </a:solidFill>
                <a:latin typeface="Montserrat ExtraLight" panose="00000300000000000000" pitchFamily="50" charset="-52"/>
              </a:rPr>
              <a:t>пользователей</a:t>
            </a:r>
            <a:r>
              <a:rPr lang="uk-UA" dirty="0">
                <a:solidFill>
                  <a:srgbClr val="000000"/>
                </a:solidFill>
                <a:latin typeface="Montserrat ExtraLight" panose="00000300000000000000" pitchFamily="50" charset="-52"/>
              </a:rPr>
              <a:t> за </a:t>
            </a:r>
            <a:r>
              <a:rPr lang="uk-UA" dirty="0" err="1">
                <a:solidFill>
                  <a:srgbClr val="000000"/>
                </a:solidFill>
                <a:latin typeface="Montserrat ExtraLight" panose="00000300000000000000" pitchFamily="50" charset="-52"/>
              </a:rPr>
              <a:t>период</a:t>
            </a:r>
            <a:r>
              <a:rPr lang="uk-UA" dirty="0">
                <a:solidFill>
                  <a:srgbClr val="000000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smtClean="0">
                <a:solidFill>
                  <a:srgbClr val="000000"/>
                </a:solidFill>
                <a:latin typeface="Montserrat ExtraLight" panose="00000300000000000000" pitchFamily="50" charset="-52"/>
              </a:rPr>
              <a:t>)</a:t>
            </a:r>
            <a:r>
              <a:rPr lang="en-US" dirty="0" smtClean="0">
                <a:latin typeface="Montserrat ExtraLight" panose="00000300000000000000" pitchFamily="50" charset="-52"/>
              </a:rPr>
              <a:t> </a:t>
            </a:r>
            <a:r>
              <a:rPr lang="en-US" b="1" dirty="0" smtClean="0">
                <a:latin typeface="Montserrat ExtraLight" panose="00000300000000000000" pitchFamily="50" charset="-52"/>
              </a:rPr>
              <a:t>- </a:t>
            </a:r>
            <a:r>
              <a:rPr lang="en-US" b="1" dirty="0">
                <a:latin typeface="Montserrat ExtraLight" panose="00000300000000000000" pitchFamily="50" charset="-52"/>
              </a:rPr>
              <a:t>P1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505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712607"/>
              </p:ext>
            </p:extLst>
          </p:nvPr>
        </p:nvGraphicFramePr>
        <p:xfrm>
          <a:off x="471487" y="1559024"/>
          <a:ext cx="5915026" cy="5700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</a:t>
                      </a: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CWE-532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75674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Переходим по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ссылке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https://demo.owasp-juice.shop/ftp/support/log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и видим файл с 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конфиденциальной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информацией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. </a:t>
                      </a:r>
                      <a:endParaRPr lang="ru-RU" sz="1000" dirty="0"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Эта уязвимость возникает, когда </a:t>
                      </a:r>
                      <a:r>
                        <a:rPr lang="ru-RU" sz="13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</a:t>
                      </a:r>
                      <a:r>
                        <a:rPr lang="ru-RU" sz="13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системы или приложения содержат хранящиеся в них пользовательские учетные данные, такие как пароли или личная информация. Если злоумышленник получает несанкционированный доступ к этим логам, это может привести к компрометации пользовательских учетных данных и возможному злоупотреблению этой информацией.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https://demo.owasp-juice.shop/ftp/support/log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3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Никогда не храните пользовательские учетные данные в логах системы или приложения. Если </a:t>
                      </a:r>
                      <a:r>
                        <a:rPr lang="ru-RU" sz="13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</a:t>
                      </a:r>
                      <a:r>
                        <a:rPr lang="ru-RU" sz="13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уже содержат такую информацию, удалите ее или примените механизмы шифрования или хеширования для обеспечения безопасного хранения. - Установите строгие контроли и ограничения доступа к логам системы, чтобы предотвратить несанкционированный доступ. - </a:t>
                      </a:r>
                      <a:r>
                        <a:rPr lang="ru-RU" sz="13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Мониторьте</a:t>
                      </a:r>
                      <a:r>
                        <a:rPr lang="ru-RU" sz="13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3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</a:t>
                      </a:r>
                      <a:r>
                        <a:rPr lang="ru-RU" sz="13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системы и приложения на наличие аномалий и подозрительной активности.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https://owasp.org/Top10/A01_2021-Broken_Access_Control/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71487" y="816312"/>
            <a:ext cx="5067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Montserrat ExtraLight" panose="00000300000000000000" pitchFamily="50" charset="-52"/>
              </a:rPr>
              <a:t>5</a:t>
            </a:r>
            <a:r>
              <a:rPr lang="en-US" b="1" dirty="0" smtClean="0">
                <a:latin typeface="Montserrat ExtraLight" panose="00000300000000000000" pitchFamily="50" charset="-52"/>
              </a:rPr>
              <a:t>. </a:t>
            </a:r>
            <a:r>
              <a:rPr lang="en-US" dirty="0">
                <a:latin typeface="Montserrat ExtraLight" panose="00000300000000000000" pitchFamily="50" charset="-52"/>
              </a:rPr>
              <a:t>Users Credentials Log Access Dump</a:t>
            </a:r>
            <a:r>
              <a:rPr lang="en-US" b="1" dirty="0" smtClean="0">
                <a:latin typeface="Montserrat ExtraLight" panose="00000300000000000000" pitchFamily="50" charset="-52"/>
              </a:rPr>
              <a:t>  </a:t>
            </a:r>
            <a:r>
              <a:rPr lang="en-US" b="1" dirty="0">
                <a:latin typeface="Montserrat ExtraLight" panose="00000300000000000000" pitchFamily="50" charset="-52"/>
              </a:rPr>
              <a:t>- P1</a:t>
            </a:r>
            <a:endParaRPr lang="ru-RU" dirty="0">
              <a:latin typeface="Montserrat ExtraLight" panose="00000300000000000000" pitchFamily="50" charset="-52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136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616872"/>
              </p:ext>
            </p:extLst>
          </p:nvPr>
        </p:nvGraphicFramePr>
        <p:xfrm>
          <a:off x="373304" y="1353284"/>
          <a:ext cx="5915026" cy="5944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</a:t>
                      </a: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CWE-533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1445271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Переходим по ссылке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  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выполняем поиск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apple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 » и отставляем отзыв о товаре «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DmitryPavlov_good_teacher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 открываем инструмент «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BurpSute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выполняем процесс перехвата запроса через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Proxy&gt;Intercept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отправляем запрос в «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Repiter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», в самом запросе замещаем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"message":"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dsadasdsdadas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",«“author”:"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admin@juice-sh.op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"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на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{"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message":"DmitryPavlov_good_teacher","id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":{"$ne":-1}}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и  замещаем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POST /rest/products/1/reviews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на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PATCH /rest/products/reviews</a:t>
                      </a:r>
                      <a:r>
                        <a:rPr lang="ru-RU" sz="1000" dirty="0" smtClean="0">
                          <a:latin typeface="Montserrat ExtraLight" panose="00000300000000000000" pitchFamily="50" charset="-52"/>
                        </a:rPr>
                        <a:t>» отправляем запрос на сервер обратно. </a:t>
                      </a:r>
                    </a:p>
                    <a:p>
                      <a:endParaRPr lang="uk-UA" sz="1000" dirty="0"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Эта уязвимость возникает, когда злоумышленник получает несанкционированный доступ к файлу с резервными копиями сервера. Если резервные копии содержат конфиденциальную информацию или критические данные, это может привести к утечке информации, нарушению конфиденциальности и возможной потере данных.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https://demo.owasp-juice.shop/search?q*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000" b="0" i="0" kern="120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Убедитесь, что файлы с резервными копиями сервера хранятся в безопасном и недоступном для несанкционированного доступа месте.</a:t>
                      </a:r>
                      <a:endParaRPr lang="en-US" sz="1000" b="0" i="0" kern="1200" smtClean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000" b="0" i="0" kern="120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Регулярно проверяйте и обновляйте права доступа к файлам с резервными копиями, чтобы предотвратить несанкционированный доступ.</a:t>
                      </a:r>
                      <a:endParaRPr lang="en-US" sz="1000" b="0" i="0" kern="1200" smtClean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000" b="0" i="0" kern="120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Используйте механизмы шифрования или другие меры безопасности для защиты файлов с резервными копиями от несанкционированного чтения или использования.</a:t>
                      </a:r>
                      <a:endParaRPr lang="en-US" sz="1000" b="0" i="0" kern="1200" smtClean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000" b="0" i="0" kern="120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Применяйте политику управления резервными копиями, включая их периодическую проверку, удаление устаревших копий и обеспечение их безопасного хранения.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https://owasp.org/www-project-web-security-testing-guide/latest/4-Web_Application_Security_Testing/02-Configuration_and_Deployment_Management_Testing/04-Review_Old_Backup_and_Unreferenced_Files_for_Sensitive_Information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68120" y="884892"/>
            <a:ext cx="5920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Montserrat ExtraLight" panose="00000300000000000000" pitchFamily="50" charset="-52"/>
              </a:rPr>
              <a:t>6</a:t>
            </a:r>
            <a:r>
              <a:rPr lang="en-US" b="1" dirty="0" smtClean="0">
                <a:latin typeface="Montserrat ExtraLight" panose="00000300000000000000" pitchFamily="50" charset="-52"/>
              </a:rPr>
              <a:t>. </a:t>
            </a:r>
            <a:r>
              <a:rPr lang="en-US" dirty="0">
                <a:latin typeface="Montserrat ExtraLight" panose="00000300000000000000" pitchFamily="50" charset="-52"/>
              </a:rPr>
              <a:t>Gained Access to a File with Server Backups</a:t>
            </a:r>
            <a:r>
              <a:rPr lang="en-US" b="1" dirty="0" smtClean="0">
                <a:latin typeface="Montserrat ExtraLight" panose="00000300000000000000" pitchFamily="50" charset="-52"/>
              </a:rPr>
              <a:t>  </a:t>
            </a:r>
            <a:r>
              <a:rPr lang="en-US" b="1" dirty="0">
                <a:latin typeface="Montserrat ExtraLight" panose="00000300000000000000" pitchFamily="50" charset="-52"/>
              </a:rPr>
              <a:t>- P1</a:t>
            </a:r>
            <a:endParaRPr lang="ru-RU" dirty="0">
              <a:latin typeface="Montserrat ExtraLight" panose="00000300000000000000" pitchFamily="50" charset="-52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894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980053"/>
              </p:ext>
            </p:extLst>
          </p:nvPr>
        </p:nvGraphicFramePr>
        <p:xfrm>
          <a:off x="471487" y="1863824"/>
          <a:ext cx="5915026" cy="523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441">
                  <a:extLst>
                    <a:ext uri="{9D8B030D-6E8A-4147-A177-3AD203B41FA5}">
                      <a16:colId xmlns:a16="http://schemas.microsoft.com/office/drawing/2014/main" val="1862862590"/>
                    </a:ext>
                  </a:extLst>
                </a:gridCol>
                <a:gridCol w="4874585">
                  <a:extLst>
                    <a:ext uri="{9D8B030D-6E8A-4147-A177-3AD203B41FA5}">
                      <a16:colId xmlns:a16="http://schemas.microsoft.com/office/drawing/2014/main" val="2113194134"/>
                    </a:ext>
                  </a:extLst>
                </a:gridCol>
              </a:tblGrid>
              <a:tr h="457913">
                <a:tc>
                  <a:txBody>
                    <a:bodyPr/>
                    <a:lstStyle/>
                    <a:p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</a:t>
                      </a: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CWE-269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386450"/>
                  </a:ext>
                </a:extLst>
              </a:tr>
              <a:tr h="1445271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Description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Открываем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ссылку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https://demo.owasp-juice.shop/#/register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=&gt;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создаем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новую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учетную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запись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/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=&gt;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далее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отправляем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форому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регистрации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/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=&gt;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переходим в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инструмент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BurpSuite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на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вкалдку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Proxy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/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=&gt;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находим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нужный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для нас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запрос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POST /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api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/Users/ HTTP/2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=&gt;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отправляем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его в «</a:t>
                      </a:r>
                      <a:r>
                        <a:rPr lang="en-US" sz="1000" dirty="0" err="1" smtClean="0">
                          <a:latin typeface="Montserrat ExtraLight" panose="00000300000000000000" pitchFamily="50" charset="-52"/>
                        </a:rPr>
                        <a:t>Repiter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/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=&gt;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добавлем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значение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«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>role: “admin” , 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» </a:t>
                      </a:r>
                      <a:r>
                        <a:rPr lang="en-US" sz="1000" dirty="0" smtClean="0">
                          <a:latin typeface="Montserrat ExtraLight" panose="00000300000000000000" pitchFamily="50" charset="-52"/>
                        </a:rPr>
                        <a:t/>
                      </a:r>
                      <a:br>
                        <a:rPr lang="en-US" sz="1000" dirty="0" smtClean="0">
                          <a:latin typeface="Montserrat ExtraLight" panose="00000300000000000000" pitchFamily="50" charset="-52"/>
                        </a:rPr>
                      </a:b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отправялем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 </a:t>
                      </a:r>
                      <a:r>
                        <a:rPr lang="uk-UA" sz="1000" dirty="0" err="1" smtClean="0">
                          <a:latin typeface="Montserrat ExtraLight" panose="00000300000000000000" pitchFamily="50" charset="-52"/>
                        </a:rPr>
                        <a:t>запрос</a:t>
                      </a:r>
                      <a:r>
                        <a:rPr lang="uk-UA" sz="1000" dirty="0" smtClean="0">
                          <a:latin typeface="Montserrat ExtraLight" panose="00000300000000000000" pitchFamily="50" charset="-52"/>
                        </a:rPr>
                        <a:t>. 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544126"/>
                  </a:ext>
                </a:extLst>
              </a:tr>
              <a:tr h="810083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Security Impact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Уязвимость возникает, когда административные привилегии или роль администратора назначаются на учетную запись без соответствующих прав. Злоумышленник может получить несанкционированный доступ к привилегированным функциям или ресурсам, что может привести к возможности выполнения недопустимых действий или компрометации системы.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7673"/>
                  </a:ext>
                </a:extLst>
              </a:tr>
              <a:tr h="339348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Affected Domain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00000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https://demo.owasp-juice.shop/#/register/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07659"/>
                  </a:ext>
                </a:extLst>
              </a:tr>
              <a:tr h="119834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Remediation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Разработайте и примените строгую политику назначения привилегий, чтобы убедиться, что только соответствующим пользователям или ролям предоставляются привилегии администратора. Ограничьте доступ к административным функциям и ресурсам только авторизованным пользователям с необходимыми привилегиями.</a:t>
                      </a:r>
                      <a:r>
                        <a:rPr lang="en-US" sz="1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Montserrat ExtraLight" panose="00000300000000000000" pitchFamily="50" charset="-52"/>
                          <a:ea typeface="+mn-ea"/>
                          <a:cs typeface="+mn-cs"/>
                        </a:rPr>
                        <a:t>Установите контроль доступа на уровне ролей и регулярно проверяйте и обновляйте привилегии, чтобы избежать несанкционированного повышения привилегий.</a:t>
                      </a:r>
                      <a:endParaRPr lang="ru-RU" sz="1000" b="0" i="0" kern="1200" dirty="0">
                        <a:solidFill>
                          <a:schemeClr val="dk1"/>
                        </a:solidFill>
                        <a:effectLst/>
                        <a:latin typeface="Montserrat ExtraLight" panose="00000300000000000000" pitchFamily="50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47331"/>
                  </a:ext>
                </a:extLst>
              </a:tr>
              <a:tr h="614815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External References 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i="0" dirty="0" smtClean="0">
                          <a:solidFill>
                            <a:srgbClr val="0563C1"/>
                          </a:solidFill>
                          <a:effectLst/>
                          <a:latin typeface="Montserrat ExtraLight" panose="00000300000000000000" pitchFamily="50" charset="-52"/>
                        </a:rPr>
                        <a:t>https://owasp.org/API-Security/editions/2023/en/0xa3-broken-object-property-level-authorization/</a:t>
                      </a:r>
                      <a:endParaRPr lang="en-US" sz="1000" dirty="0">
                        <a:effectLst/>
                        <a:latin typeface="Montserrat ExtraLight" panose="00000300000000000000" pitchFamily="50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8156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71487" y="458172"/>
            <a:ext cx="5735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Montserrat ExtraLight" panose="00000300000000000000" pitchFamily="50" charset="-52"/>
              </a:rPr>
              <a:t>7</a:t>
            </a:r>
            <a:r>
              <a:rPr lang="en-US" b="1" dirty="0" smtClean="0">
                <a:latin typeface="Montserrat ExtraLight" panose="00000300000000000000" pitchFamily="50" charset="-52"/>
              </a:rPr>
              <a:t>. </a:t>
            </a:r>
            <a:r>
              <a:rPr lang="en-US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Unauthorized Privilege Assignment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(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была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создана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учетноя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запись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и 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наделена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правми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 </a:t>
            </a:r>
            <a:r>
              <a:rPr lang="uk-UA" dirty="0" err="1">
                <a:solidFill>
                  <a:schemeClr val="dk1"/>
                </a:solidFill>
                <a:latin typeface="Montserrat ExtraLight" panose="00000300000000000000" pitchFamily="50" charset="-52"/>
              </a:rPr>
              <a:t>администратора</a:t>
            </a:r>
            <a:r>
              <a:rPr lang="uk-UA" dirty="0">
                <a:solidFill>
                  <a:schemeClr val="dk1"/>
                </a:solidFill>
                <a:latin typeface="Montserrat ExtraLight" panose="00000300000000000000" pitchFamily="50" charset="-52"/>
              </a:rPr>
              <a:t>) </a:t>
            </a:r>
            <a:r>
              <a:rPr lang="en-US" b="1" dirty="0" smtClean="0">
                <a:latin typeface="Montserrat ExtraLight" panose="00000300000000000000" pitchFamily="50" charset="-52"/>
              </a:rPr>
              <a:t> </a:t>
            </a:r>
            <a:r>
              <a:rPr lang="en-US" b="1" dirty="0">
                <a:latin typeface="Montserrat ExtraLight" panose="00000300000000000000" pitchFamily="50" charset="-52"/>
              </a:rPr>
              <a:t>- P1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4495-4C06-43EA-AB77-465CD4D52A1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1247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2054</TotalTime>
  <Words>2932</Words>
  <Application>Microsoft Office PowerPoint</Application>
  <PresentationFormat>Лист A4 (210x297 мм)</PresentationFormat>
  <Paragraphs>295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Montserrat Alternates</vt:lpstr>
      <vt:lpstr>Montserrat Alternates ExtraBold</vt:lpstr>
      <vt:lpstr>Montserrat ExtraLight</vt:lpstr>
      <vt:lpstr>Montserrat Light</vt:lpstr>
      <vt:lpstr>Тема Office</vt:lpstr>
      <vt:lpstr>Noda-Group</vt:lpstr>
      <vt:lpstr>Оглавление</vt:lpstr>
      <vt:lpstr>Заявление о конфиденциальности</vt:lpstr>
      <vt:lpstr>Контакты для участия  </vt:lpstr>
      <vt:lpstr>Ввод в отчет OWASP Juice Shop. («juice-shopt» в настоящем документе) заключила контракт с NodaGrup на проведение теста на проникновение в сеть Внутренняя сеть  juice-shopt  для выявления слабых мест в безопасности, определения влияния на juice-shopt, четко и воспроизводимо задокументируйте все результаты и предоставьте рекомендации по исправлению положения. https://demo.owasp-juice.shop/#/</vt:lpstr>
      <vt:lpstr>Обзор оценки и рекомендации к устранению Уязвимостей  В ходе проведения тестирования нашей командой "Noda-Group", были выявлены ряд уязвимостей в веб-приложении "OWASP Juice Shop", которые включают в себя проблемы с XSS (Cross-site Scripting), SQL Injection, Broken Authentication/Broken Authorization, Data Base Scheme Injection, HTML Injection, обнаружение чувствительных данных, и информационное раскрытие. XSS и HTML Injection требуют внедрения строгих мер валидации и санитизации вводимых данных, а также применения механизмов контроля доступа к данным (Content Security Policy). SQL Injection и Data Base Scheme Injection требуют также применения санитизации входных данных и использования параметризованных запросов или ORM (Object-Relational Mapping) систем. Broken Authentication/Broken Authorization и информационное раскрытие указывают на необходимость пересмотра политик аутентификации и авторизации, улучшения управления сессиями и обеспечения конфиденциальности данных пользователей. Чувствительные данные должны быть должным образом защищены и шифрованы во время хранения и передачи, чтобы предотвратить несанкционированный доступ.</vt:lpstr>
      <vt:lpstr>NodaGroup  подошла к вопросу тестирования максимально реалистично, а именно были проведены тесты в формате «Блэк Бокс» без выданных айпи адресов , специальных аккаутов или доступов. Тесты были проведены таким образом и с таким уклоном в тестировании, что бы проверить какой уровень вреда теоретически может нанести злоумышленник, в такой же ситуации. Единственное что было предоставлено это доменное имя цели тестирования </vt:lpstr>
      <vt:lpstr>Пошаговое руководство по компрометации вэб – приложения OWASP Juice Shop.   В ходе проверки OWASP Juice Shop компании  Noda-Group удалось скомпрометировать ресурс (Juice Shop), получить чувствительные данные самого вэб приложения в виде истории бэкапов,  полный перечень продуктов и товаров которые находится на вэб-приложении в частности скрытую информацию, получили доступ к учетным данным администраторов также доступ к информации и персональным данным клиентов \ пользователей. Также получили полный доступ к администрированию ресурса с возможностью Выгрузки запрещённых файлов ( в частности те которые не отображаться по FTP доступу к серверу и не возможно было просмотреть эти файлы с клиентской части.) и Загрузки файлов неразрешённых типов и вредоносных скриптов.  </vt:lpstr>
      <vt:lpstr>Пошаговое руководство по компрометации вэб-приложения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13))Уязвимось назначений роли администратора  Открываем ссылку «https://demo.owasp-juice.shop/#/register»  =&gt; создаем новую учетную запись =&gt;далее отправляем форому регистрации =&gt;переходим в инструмент «BurpSuite» на вкалдку «Proxy»  =&gt;находим нужный для нас запрос  «POST /api/Users/ HTTP/2»  =&gt;отправляем его в «Repiter»  =&gt; добавлем значение «role: “admin” , »  отправялем запрос. </vt:lpstr>
      <vt:lpstr>Remediation Summary  Как результат «» было скомпрометирован вэб-приложение, были найдены критические и очень высокого уроня уязвимости которые необходимо незамедлительно исправить. Большая часть уязвимостей связана с открытыми для сканирования директориями и файлами, непосредственно находящаяся информация на сервере в виде доступных лог файлов, файла бэкапа вэб приложения, с открытой информацией формата «OSINT» и многие другие файлы. Доступность информации это не единственная уязвимость , также присутствует проблема дефолтных паролей, Контроля сессии, уязвимость недостаточный уровень шифрования паролей, возможность загрузки сторонних файлов с изменением формата чтения документа/изображения/скрипта. Также видна проблема в назначении любого пользователя правами администратора и соответствующий уровень доступа </vt:lpstr>
      <vt:lpstr>Презентация PowerPoint</vt:lpstr>
      <vt:lpstr>Описание для технического специалиста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Титульная страница </dc:title>
  <dc:creator>Пользователь Windows</dc:creator>
  <cp:lastModifiedBy>Пользователь Windows</cp:lastModifiedBy>
  <cp:revision>101</cp:revision>
  <dcterms:created xsi:type="dcterms:W3CDTF">2023-07-14T23:55:26Z</dcterms:created>
  <dcterms:modified xsi:type="dcterms:W3CDTF">2023-07-16T20:00:35Z</dcterms:modified>
</cp:coreProperties>
</file>